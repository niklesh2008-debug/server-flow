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Roboto" panose="02000000000000000000" pitchFamily="2" charset="0"/>
      <p:regular r:id="rId10"/>
    </p:embeddedFont>
    <p:embeddedFont>
      <p:font typeface="Roboto Bold" panose="020B0604020202020204" charset="0"/>
      <p:regular r:id="rId11"/>
    </p:embeddedFont>
    <p:embeddedFont>
      <p:font typeface="Saira Medium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03.10.2026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30303">
                <a:alpha val="56078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4724400" y="2664817"/>
            <a:ext cx="7910331" cy="884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31"/>
              </a:lnSpc>
            </a:pPr>
            <a:r>
              <a:rPr lang="en-US" sz="5554" b="1" dirty="0">
                <a:solidFill>
                  <a:srgbClr val="FFFFFF"/>
                </a:solidFill>
                <a:latin typeface="Saira Medium"/>
                <a:ea typeface="Saira Medium"/>
                <a:cs typeface="Saira Medium"/>
                <a:sym typeface="Saira Medium"/>
              </a:rPr>
              <a:t>SERVERFLOW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35438" y="3689718"/>
            <a:ext cx="17230954" cy="539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4"/>
              </a:lnSpc>
            </a:pPr>
            <a:r>
              <a:rPr lang="en-US" sz="2176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Intelligent request routing using Greedy and Priority Queue algorithms.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991" y="4822831"/>
            <a:ext cx="4920405" cy="452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1">
                <a:solidFill>
                  <a:srgbClr val="FFFFFF"/>
                </a:solidFill>
                <a:latin typeface="Saira Medium"/>
                <a:ea typeface="Saira Medium"/>
                <a:cs typeface="Saira Medium"/>
                <a:sym typeface="Saira Medium"/>
              </a:rPr>
              <a:t>Team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5193540"/>
            <a:ext cx="5214053" cy="155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194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Poluru Niklesh</a:t>
            </a:r>
          </a:p>
          <a:p>
            <a:pPr algn="l">
              <a:lnSpc>
                <a:spcPts val="3104"/>
              </a:lnSpc>
            </a:pPr>
            <a:r>
              <a:rPr lang="en-US" sz="194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Kammari Vinay Kumar</a:t>
            </a:r>
          </a:p>
          <a:p>
            <a:pPr algn="l">
              <a:lnSpc>
                <a:spcPts val="3104"/>
              </a:lnSpc>
            </a:pPr>
            <a:r>
              <a:rPr lang="en-US" sz="194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Gojur Ravi Teja</a:t>
            </a:r>
          </a:p>
          <a:p>
            <a:pPr algn="l">
              <a:lnSpc>
                <a:spcPts val="3104"/>
              </a:lnSpc>
            </a:pPr>
            <a:r>
              <a:rPr lang="en-US" sz="194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Avula Gouri Shankar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15208" y="4822831"/>
            <a:ext cx="4920405" cy="452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1">
                <a:solidFill>
                  <a:srgbClr val="FFFFFF"/>
                </a:solidFill>
                <a:latin typeface="Saira Medium"/>
                <a:ea typeface="Saira Medium"/>
                <a:cs typeface="Saira Medium"/>
                <a:sym typeface="Saira Medium"/>
              </a:rPr>
              <a:t>Institution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15208" y="5473627"/>
            <a:ext cx="5835501" cy="414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Malla Reddy Technical Campus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237415" y="4822831"/>
            <a:ext cx="5090350" cy="452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1">
                <a:solidFill>
                  <a:srgbClr val="FFFFFF"/>
                </a:solidFill>
                <a:latin typeface="Saira Medium"/>
                <a:ea typeface="Saira Medium"/>
                <a:cs typeface="Saira Medium"/>
                <a:sym typeface="Saira Medium"/>
              </a:rPr>
              <a:t>Domain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237415" y="5473627"/>
            <a:ext cx="5090350" cy="993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Distributed Systems / Web Infrastructure / Algorithm Optimization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78694" y="7027497"/>
            <a:ext cx="16344462" cy="1720758"/>
            <a:chOff x="0" y="0"/>
            <a:chExt cx="21792616" cy="229434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792564" cy="2294255"/>
            </a:xfrm>
            <a:custGeom>
              <a:avLst/>
              <a:gdLst/>
              <a:ahLst/>
              <a:cxnLst/>
              <a:rect l="l" t="t" r="r" b="b"/>
              <a:pathLst>
                <a:path w="21792564" h="2294255">
                  <a:moveTo>
                    <a:pt x="0" y="346202"/>
                  </a:moveTo>
                  <a:cubicBezTo>
                    <a:pt x="0" y="155067"/>
                    <a:pt x="155067" y="0"/>
                    <a:pt x="346202" y="0"/>
                  </a:cubicBezTo>
                  <a:lnTo>
                    <a:pt x="21446362" y="0"/>
                  </a:lnTo>
                  <a:cubicBezTo>
                    <a:pt x="21637625" y="0"/>
                    <a:pt x="21792564" y="155067"/>
                    <a:pt x="21792564" y="346202"/>
                  </a:cubicBezTo>
                  <a:lnTo>
                    <a:pt x="21792564" y="1948053"/>
                  </a:lnTo>
                  <a:cubicBezTo>
                    <a:pt x="21792564" y="2139315"/>
                    <a:pt x="21637498" y="2294255"/>
                    <a:pt x="21446362" y="2294255"/>
                  </a:cubicBezTo>
                  <a:lnTo>
                    <a:pt x="346202" y="2294255"/>
                  </a:lnTo>
                  <a:cubicBezTo>
                    <a:pt x="155067" y="2294382"/>
                    <a:pt x="0" y="2139315"/>
                    <a:pt x="0" y="1948053"/>
                  </a:cubicBezTo>
                  <a:close/>
                </a:path>
              </a:pathLst>
            </a:custGeom>
            <a:solidFill>
              <a:srgbClr val="030303"/>
            </a:solidFill>
            <a:ln w="28597" cap="sq">
              <a:solidFill>
                <a:srgbClr val="FC8337"/>
              </a:solidFill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1305316" y="7344613"/>
            <a:ext cx="15691209" cy="452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1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Core Routing Principle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05316" y="7881909"/>
            <a:ext cx="15691209" cy="539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An incoming request is routed to the most suitable server using queue length, capacity, and estimated response cost.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30303">
                <a:alpha val="56078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1363047"/>
            <a:ext cx="17230954" cy="377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2"/>
              </a:lnSpc>
            </a:pPr>
            <a:r>
              <a:rPr lang="en-US" sz="1576" spc="96">
                <a:solidFill>
                  <a:srgbClr val="FC8337"/>
                </a:solidFill>
                <a:latin typeface="Roboto"/>
                <a:ea typeface="Roboto"/>
                <a:cs typeface="Roboto"/>
                <a:sym typeface="Roboto"/>
              </a:rPr>
              <a:t>SYSTEM BOTTLENECKS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991" y="1960559"/>
            <a:ext cx="16315868" cy="647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4"/>
              </a:lnSpc>
            </a:pPr>
            <a:r>
              <a:rPr lang="en-US" sz="3978" b="1">
                <a:solidFill>
                  <a:srgbClr val="FFFFFF"/>
                </a:solidFill>
                <a:latin typeface="Saira Medium"/>
                <a:ea typeface="Saira Medium"/>
                <a:cs typeface="Saira Medium"/>
                <a:sym typeface="Saira Medium"/>
              </a:rPr>
              <a:t>The challenge: avoiding server overload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78694" y="3197390"/>
            <a:ext cx="7875099" cy="2001364"/>
            <a:chOff x="0" y="0"/>
            <a:chExt cx="10500131" cy="26684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500106" cy="2668524"/>
            </a:xfrm>
            <a:custGeom>
              <a:avLst/>
              <a:gdLst/>
              <a:ahLst/>
              <a:cxnLst/>
              <a:rect l="l" t="t" r="r" b="b"/>
              <a:pathLst>
                <a:path w="10500106" h="2668524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lnTo>
                    <a:pt x="10189210" y="0"/>
                  </a:lnTo>
                  <a:cubicBezTo>
                    <a:pt x="10360914" y="0"/>
                    <a:pt x="10500106" y="139192"/>
                    <a:pt x="10500106" y="310896"/>
                  </a:cubicBezTo>
                  <a:lnTo>
                    <a:pt x="10500106" y="2357628"/>
                  </a:lnTo>
                  <a:cubicBezTo>
                    <a:pt x="10500106" y="2529332"/>
                    <a:pt x="10360914" y="2668524"/>
                    <a:pt x="10189210" y="2668524"/>
                  </a:cubicBezTo>
                  <a:lnTo>
                    <a:pt x="310896" y="2668524"/>
                  </a:lnTo>
                  <a:cubicBezTo>
                    <a:pt x="139192" y="2668524"/>
                    <a:pt x="0" y="2529332"/>
                    <a:pt x="0" y="2357628"/>
                  </a:cubicBezTo>
                  <a:close/>
                </a:path>
              </a:pathLst>
            </a:custGeom>
            <a:solidFill>
              <a:srgbClr val="030303">
                <a:alpha val="56078"/>
              </a:srgbClr>
            </a:solidFill>
            <a:ln w="28597" cap="sq">
              <a:solidFill>
                <a:srgbClr val="FC8337"/>
              </a:solidFill>
              <a:prstDash val="solid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1276864" y="3486055"/>
            <a:ext cx="7278738" cy="408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 b="1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Continuous Influx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76864" y="4057593"/>
            <a:ext cx="7278738" cy="842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Requests arrive continuously while servers carry different workloads and capacities.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78694" y="5399980"/>
            <a:ext cx="7875099" cy="1613221"/>
            <a:chOff x="0" y="0"/>
            <a:chExt cx="10500131" cy="215096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500106" cy="2150872"/>
            </a:xfrm>
            <a:custGeom>
              <a:avLst/>
              <a:gdLst/>
              <a:ahLst/>
              <a:cxnLst/>
              <a:rect l="l" t="t" r="r" b="b"/>
              <a:pathLst>
                <a:path w="10500106" h="2150872">
                  <a:moveTo>
                    <a:pt x="0" y="311912"/>
                  </a:moveTo>
                  <a:cubicBezTo>
                    <a:pt x="0" y="139700"/>
                    <a:pt x="139700" y="0"/>
                    <a:pt x="311912" y="0"/>
                  </a:cubicBezTo>
                  <a:lnTo>
                    <a:pt x="10188194" y="0"/>
                  </a:lnTo>
                  <a:cubicBezTo>
                    <a:pt x="10360533" y="0"/>
                    <a:pt x="10500106" y="139700"/>
                    <a:pt x="10500106" y="311912"/>
                  </a:cubicBezTo>
                  <a:lnTo>
                    <a:pt x="10500106" y="1838960"/>
                  </a:lnTo>
                  <a:cubicBezTo>
                    <a:pt x="10500106" y="2011299"/>
                    <a:pt x="10360406" y="2150872"/>
                    <a:pt x="10188194" y="2150872"/>
                  </a:cubicBezTo>
                  <a:lnTo>
                    <a:pt x="311912" y="2150872"/>
                  </a:lnTo>
                  <a:cubicBezTo>
                    <a:pt x="139700" y="2150999"/>
                    <a:pt x="0" y="2011299"/>
                    <a:pt x="0" y="1838960"/>
                  </a:cubicBezTo>
                  <a:close/>
                </a:path>
              </a:pathLst>
            </a:custGeom>
            <a:solidFill>
              <a:srgbClr val="030303">
                <a:alpha val="56078"/>
              </a:srgbClr>
            </a:solidFill>
            <a:ln w="28597" cap="sq">
              <a:solidFill>
                <a:srgbClr val="FC8337"/>
              </a:solidFill>
              <a:prstDash val="solid"/>
              <a:miter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1276864" y="5688644"/>
            <a:ext cx="7278738" cy="408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 b="1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Hidden Bottlenecks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76864" y="6260192"/>
            <a:ext cx="7278738" cy="454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A short queue can still hide a capacity bottleneck.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78694" y="7214425"/>
            <a:ext cx="7875099" cy="1613221"/>
            <a:chOff x="0" y="0"/>
            <a:chExt cx="10500131" cy="215096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500106" cy="2150872"/>
            </a:xfrm>
            <a:custGeom>
              <a:avLst/>
              <a:gdLst/>
              <a:ahLst/>
              <a:cxnLst/>
              <a:rect l="l" t="t" r="r" b="b"/>
              <a:pathLst>
                <a:path w="10500106" h="2150872">
                  <a:moveTo>
                    <a:pt x="0" y="311912"/>
                  </a:moveTo>
                  <a:cubicBezTo>
                    <a:pt x="0" y="139700"/>
                    <a:pt x="139700" y="0"/>
                    <a:pt x="311912" y="0"/>
                  </a:cubicBezTo>
                  <a:lnTo>
                    <a:pt x="10188194" y="0"/>
                  </a:lnTo>
                  <a:cubicBezTo>
                    <a:pt x="10360533" y="0"/>
                    <a:pt x="10500106" y="139700"/>
                    <a:pt x="10500106" y="311912"/>
                  </a:cubicBezTo>
                  <a:lnTo>
                    <a:pt x="10500106" y="1838960"/>
                  </a:lnTo>
                  <a:cubicBezTo>
                    <a:pt x="10500106" y="2011299"/>
                    <a:pt x="10360406" y="2150872"/>
                    <a:pt x="10188194" y="2150872"/>
                  </a:cubicBezTo>
                  <a:lnTo>
                    <a:pt x="311912" y="2150872"/>
                  </a:lnTo>
                  <a:cubicBezTo>
                    <a:pt x="139700" y="2150999"/>
                    <a:pt x="0" y="2011299"/>
                    <a:pt x="0" y="1838960"/>
                  </a:cubicBezTo>
                  <a:close/>
                </a:path>
              </a:pathLst>
            </a:custGeom>
            <a:solidFill>
              <a:srgbClr val="030303">
                <a:alpha val="56078"/>
              </a:srgbClr>
            </a:solidFill>
            <a:ln w="28597" cap="sq">
              <a:solidFill>
                <a:srgbClr val="FC8337"/>
              </a:solidFill>
              <a:prstDash val="solid"/>
              <a:miter/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1276864" y="7503090"/>
            <a:ext cx="7278738" cy="408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 b="1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Cascading Delays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76864" y="8074628"/>
            <a:ext cx="7278738" cy="454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A poor routing choice increases waiting time and queue buildup.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71889" y="3173416"/>
            <a:ext cx="7846495" cy="408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 b="1">
                <a:solidFill>
                  <a:srgbClr val="FFFFFF"/>
                </a:solidFill>
                <a:latin typeface="Saira Medium"/>
                <a:ea typeface="Saira Medium"/>
                <a:cs typeface="Saira Medium"/>
                <a:sym typeface="Saira Medium"/>
              </a:rPr>
              <a:t>What matters in distributed routing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457592" y="3826088"/>
            <a:ext cx="3836860" cy="1991087"/>
            <a:chOff x="0" y="0"/>
            <a:chExt cx="5115814" cy="265478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115814" cy="2654808"/>
            </a:xfrm>
            <a:custGeom>
              <a:avLst/>
              <a:gdLst/>
              <a:ahLst/>
              <a:cxnLst/>
              <a:rect l="l" t="t" r="r" b="b"/>
              <a:pathLst>
                <a:path w="5115814" h="2654808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lnTo>
                    <a:pt x="4804918" y="0"/>
                  </a:lnTo>
                  <a:cubicBezTo>
                    <a:pt x="4976622" y="0"/>
                    <a:pt x="5115814" y="139192"/>
                    <a:pt x="5115814" y="310896"/>
                  </a:cubicBezTo>
                  <a:lnTo>
                    <a:pt x="5115814" y="2343912"/>
                  </a:lnTo>
                  <a:cubicBezTo>
                    <a:pt x="5115814" y="2515616"/>
                    <a:pt x="4976622" y="2654808"/>
                    <a:pt x="4804918" y="2654808"/>
                  </a:cubicBezTo>
                  <a:lnTo>
                    <a:pt x="310896" y="2654808"/>
                  </a:lnTo>
                  <a:cubicBezTo>
                    <a:pt x="139192" y="2654808"/>
                    <a:pt x="0" y="2515616"/>
                    <a:pt x="0" y="2343912"/>
                  </a:cubicBezTo>
                  <a:close/>
                </a:path>
              </a:pathLst>
            </a:custGeom>
            <a:solidFill>
              <a:srgbClr val="030303"/>
            </a:solidFill>
            <a:ln w="28597" cap="sq">
              <a:solidFill>
                <a:srgbClr val="FC8337"/>
              </a:soli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9755772" y="4124268"/>
            <a:ext cx="766000" cy="766020"/>
            <a:chOff x="0" y="0"/>
            <a:chExt cx="1021334" cy="102135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21334" cy="1021334"/>
            </a:xfrm>
            <a:custGeom>
              <a:avLst/>
              <a:gdLst/>
              <a:ahLst/>
              <a:cxnLst/>
              <a:rect l="l" t="t" r="r" b="b"/>
              <a:pathLst>
                <a:path w="1021334" h="1021334">
                  <a:moveTo>
                    <a:pt x="0" y="510667"/>
                  </a:moveTo>
                  <a:cubicBezTo>
                    <a:pt x="0" y="228600"/>
                    <a:pt x="228600" y="0"/>
                    <a:pt x="510667" y="0"/>
                  </a:cubicBezTo>
                  <a:cubicBezTo>
                    <a:pt x="792734" y="0"/>
                    <a:pt x="1021334" y="228600"/>
                    <a:pt x="1021334" y="510667"/>
                  </a:cubicBezTo>
                  <a:cubicBezTo>
                    <a:pt x="1021334" y="792734"/>
                    <a:pt x="792734" y="1021334"/>
                    <a:pt x="510667" y="1021334"/>
                  </a:cubicBezTo>
                  <a:cubicBezTo>
                    <a:pt x="228600" y="1021334"/>
                    <a:pt x="0" y="792734"/>
                    <a:pt x="0" y="510667"/>
                  </a:cubicBezTo>
                  <a:close/>
                </a:path>
              </a:pathLst>
            </a:custGeom>
            <a:solidFill>
              <a:srgbClr val="FC8337"/>
            </a:solidFill>
          </p:spPr>
        </p:sp>
      </p:grpSp>
      <p:sp>
        <p:nvSpPr>
          <p:cNvPr id="25" name="Freeform 25" descr="preencoded.png"/>
          <p:cNvSpPr/>
          <p:nvPr/>
        </p:nvSpPr>
        <p:spPr>
          <a:xfrm>
            <a:off x="9966369" y="4334885"/>
            <a:ext cx="344653" cy="344653"/>
          </a:xfrm>
          <a:custGeom>
            <a:avLst/>
            <a:gdLst/>
            <a:ahLst/>
            <a:cxnLst/>
            <a:rect l="l" t="t" r="r" b="b"/>
            <a:pathLst>
              <a:path w="344653" h="344653">
                <a:moveTo>
                  <a:pt x="0" y="0"/>
                </a:moveTo>
                <a:lnTo>
                  <a:pt x="344653" y="0"/>
                </a:lnTo>
                <a:lnTo>
                  <a:pt x="344653" y="344652"/>
                </a:lnTo>
                <a:lnTo>
                  <a:pt x="0" y="3446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1080" b="-31080"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9755772" y="5110591"/>
            <a:ext cx="3240500" cy="408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 b="1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Fast selection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3495668" y="3826088"/>
            <a:ext cx="3837013" cy="1991087"/>
            <a:chOff x="0" y="0"/>
            <a:chExt cx="5116017" cy="265478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116068" cy="2654808"/>
            </a:xfrm>
            <a:custGeom>
              <a:avLst/>
              <a:gdLst/>
              <a:ahLst/>
              <a:cxnLst/>
              <a:rect l="l" t="t" r="r" b="b"/>
              <a:pathLst>
                <a:path w="5116068" h="2654808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lnTo>
                    <a:pt x="4805172" y="0"/>
                  </a:lnTo>
                  <a:cubicBezTo>
                    <a:pt x="4976876" y="0"/>
                    <a:pt x="5116068" y="139192"/>
                    <a:pt x="5116068" y="310896"/>
                  </a:cubicBezTo>
                  <a:lnTo>
                    <a:pt x="5116068" y="2343912"/>
                  </a:lnTo>
                  <a:cubicBezTo>
                    <a:pt x="5116068" y="2515616"/>
                    <a:pt x="4976876" y="2654808"/>
                    <a:pt x="4805172" y="2654808"/>
                  </a:cubicBezTo>
                  <a:lnTo>
                    <a:pt x="310896" y="2654808"/>
                  </a:lnTo>
                  <a:cubicBezTo>
                    <a:pt x="139192" y="2654808"/>
                    <a:pt x="0" y="2515616"/>
                    <a:pt x="0" y="2343912"/>
                  </a:cubicBezTo>
                  <a:close/>
                </a:path>
              </a:pathLst>
            </a:custGeom>
            <a:solidFill>
              <a:srgbClr val="030303"/>
            </a:solidFill>
            <a:ln w="28597" cap="sq">
              <a:solidFill>
                <a:srgbClr val="FC8337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13793848" y="4124268"/>
            <a:ext cx="766000" cy="766020"/>
            <a:chOff x="0" y="0"/>
            <a:chExt cx="1021334" cy="102135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21334" cy="1021334"/>
            </a:xfrm>
            <a:custGeom>
              <a:avLst/>
              <a:gdLst/>
              <a:ahLst/>
              <a:cxnLst/>
              <a:rect l="l" t="t" r="r" b="b"/>
              <a:pathLst>
                <a:path w="1021334" h="1021334">
                  <a:moveTo>
                    <a:pt x="0" y="510667"/>
                  </a:moveTo>
                  <a:cubicBezTo>
                    <a:pt x="0" y="228600"/>
                    <a:pt x="228600" y="0"/>
                    <a:pt x="510667" y="0"/>
                  </a:cubicBezTo>
                  <a:cubicBezTo>
                    <a:pt x="792734" y="0"/>
                    <a:pt x="1021334" y="228600"/>
                    <a:pt x="1021334" y="510667"/>
                  </a:cubicBezTo>
                  <a:cubicBezTo>
                    <a:pt x="1021334" y="792734"/>
                    <a:pt x="792734" y="1021334"/>
                    <a:pt x="510667" y="1021334"/>
                  </a:cubicBezTo>
                  <a:cubicBezTo>
                    <a:pt x="228600" y="1021334"/>
                    <a:pt x="0" y="792734"/>
                    <a:pt x="0" y="510667"/>
                  </a:cubicBezTo>
                  <a:close/>
                </a:path>
              </a:pathLst>
            </a:custGeom>
            <a:solidFill>
              <a:srgbClr val="FC8337"/>
            </a:solidFill>
          </p:spPr>
        </p:sp>
      </p:grpSp>
      <p:sp>
        <p:nvSpPr>
          <p:cNvPr id="31" name="Freeform 31" descr="preencoded.png"/>
          <p:cNvSpPr/>
          <p:nvPr/>
        </p:nvSpPr>
        <p:spPr>
          <a:xfrm>
            <a:off x="14004455" y="4334885"/>
            <a:ext cx="344653" cy="344653"/>
          </a:xfrm>
          <a:custGeom>
            <a:avLst/>
            <a:gdLst/>
            <a:ahLst/>
            <a:cxnLst/>
            <a:rect l="l" t="t" r="r" b="b"/>
            <a:pathLst>
              <a:path w="344653" h="344653">
                <a:moveTo>
                  <a:pt x="0" y="0"/>
                </a:moveTo>
                <a:lnTo>
                  <a:pt x="344653" y="0"/>
                </a:lnTo>
                <a:lnTo>
                  <a:pt x="344653" y="344652"/>
                </a:lnTo>
                <a:lnTo>
                  <a:pt x="0" y="3446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8917" b="-18919"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13793848" y="5110591"/>
            <a:ext cx="3240653" cy="408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 b="1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Capacity awareness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9457592" y="6018400"/>
            <a:ext cx="3836860" cy="1991087"/>
            <a:chOff x="0" y="0"/>
            <a:chExt cx="5115814" cy="265478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115814" cy="2654808"/>
            </a:xfrm>
            <a:custGeom>
              <a:avLst/>
              <a:gdLst/>
              <a:ahLst/>
              <a:cxnLst/>
              <a:rect l="l" t="t" r="r" b="b"/>
              <a:pathLst>
                <a:path w="5115814" h="2654808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lnTo>
                    <a:pt x="4804918" y="0"/>
                  </a:lnTo>
                  <a:cubicBezTo>
                    <a:pt x="4976622" y="0"/>
                    <a:pt x="5115814" y="139192"/>
                    <a:pt x="5115814" y="310896"/>
                  </a:cubicBezTo>
                  <a:lnTo>
                    <a:pt x="5115814" y="2343912"/>
                  </a:lnTo>
                  <a:cubicBezTo>
                    <a:pt x="5115814" y="2515616"/>
                    <a:pt x="4976622" y="2654808"/>
                    <a:pt x="4804918" y="2654808"/>
                  </a:cubicBezTo>
                  <a:lnTo>
                    <a:pt x="310896" y="2654808"/>
                  </a:lnTo>
                  <a:cubicBezTo>
                    <a:pt x="139192" y="2654808"/>
                    <a:pt x="0" y="2515616"/>
                    <a:pt x="0" y="2343912"/>
                  </a:cubicBezTo>
                  <a:close/>
                </a:path>
              </a:pathLst>
            </a:custGeom>
            <a:solidFill>
              <a:srgbClr val="030303"/>
            </a:solidFill>
            <a:ln w="28597" cap="sq">
              <a:solidFill>
                <a:srgbClr val="FC8337"/>
              </a:solidFill>
              <a:prstDash val="solid"/>
              <a:miter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9755772" y="6316589"/>
            <a:ext cx="766000" cy="766020"/>
            <a:chOff x="0" y="0"/>
            <a:chExt cx="1021334" cy="102135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21334" cy="1021334"/>
            </a:xfrm>
            <a:custGeom>
              <a:avLst/>
              <a:gdLst/>
              <a:ahLst/>
              <a:cxnLst/>
              <a:rect l="l" t="t" r="r" b="b"/>
              <a:pathLst>
                <a:path w="1021334" h="1021334">
                  <a:moveTo>
                    <a:pt x="0" y="510667"/>
                  </a:moveTo>
                  <a:cubicBezTo>
                    <a:pt x="0" y="228600"/>
                    <a:pt x="228600" y="0"/>
                    <a:pt x="510667" y="0"/>
                  </a:cubicBezTo>
                  <a:cubicBezTo>
                    <a:pt x="792734" y="0"/>
                    <a:pt x="1021334" y="228600"/>
                    <a:pt x="1021334" y="510667"/>
                  </a:cubicBezTo>
                  <a:cubicBezTo>
                    <a:pt x="1021334" y="792734"/>
                    <a:pt x="792734" y="1021334"/>
                    <a:pt x="510667" y="1021334"/>
                  </a:cubicBezTo>
                  <a:cubicBezTo>
                    <a:pt x="228600" y="1021334"/>
                    <a:pt x="0" y="792734"/>
                    <a:pt x="0" y="510667"/>
                  </a:cubicBezTo>
                  <a:close/>
                </a:path>
              </a:pathLst>
            </a:custGeom>
            <a:solidFill>
              <a:srgbClr val="FC8337"/>
            </a:solidFill>
          </p:spPr>
        </p:sp>
      </p:grpSp>
      <p:sp>
        <p:nvSpPr>
          <p:cNvPr id="37" name="Freeform 37" descr="preencoded.png"/>
          <p:cNvSpPr/>
          <p:nvPr/>
        </p:nvSpPr>
        <p:spPr>
          <a:xfrm>
            <a:off x="9966369" y="6527197"/>
            <a:ext cx="344653" cy="344653"/>
          </a:xfrm>
          <a:custGeom>
            <a:avLst/>
            <a:gdLst/>
            <a:ahLst/>
            <a:cxnLst/>
            <a:rect l="l" t="t" r="r" b="b"/>
            <a:pathLst>
              <a:path w="344653" h="344653">
                <a:moveTo>
                  <a:pt x="0" y="0"/>
                </a:moveTo>
                <a:lnTo>
                  <a:pt x="344653" y="0"/>
                </a:lnTo>
                <a:lnTo>
                  <a:pt x="344653" y="344652"/>
                </a:lnTo>
                <a:lnTo>
                  <a:pt x="0" y="3446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" r="1"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9755772" y="7302903"/>
            <a:ext cx="3240500" cy="408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 b="1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Predictable handling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13495668" y="6018400"/>
            <a:ext cx="3837013" cy="1991087"/>
            <a:chOff x="0" y="0"/>
            <a:chExt cx="5116017" cy="2654783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116068" cy="2654808"/>
            </a:xfrm>
            <a:custGeom>
              <a:avLst/>
              <a:gdLst/>
              <a:ahLst/>
              <a:cxnLst/>
              <a:rect l="l" t="t" r="r" b="b"/>
              <a:pathLst>
                <a:path w="5116068" h="2654808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lnTo>
                    <a:pt x="4805172" y="0"/>
                  </a:lnTo>
                  <a:cubicBezTo>
                    <a:pt x="4976876" y="0"/>
                    <a:pt x="5116068" y="139192"/>
                    <a:pt x="5116068" y="310896"/>
                  </a:cubicBezTo>
                  <a:lnTo>
                    <a:pt x="5116068" y="2343912"/>
                  </a:lnTo>
                  <a:cubicBezTo>
                    <a:pt x="5116068" y="2515616"/>
                    <a:pt x="4976876" y="2654808"/>
                    <a:pt x="4805172" y="2654808"/>
                  </a:cubicBezTo>
                  <a:lnTo>
                    <a:pt x="310896" y="2654808"/>
                  </a:lnTo>
                  <a:cubicBezTo>
                    <a:pt x="139192" y="2654808"/>
                    <a:pt x="0" y="2515616"/>
                    <a:pt x="0" y="2343912"/>
                  </a:cubicBezTo>
                  <a:close/>
                </a:path>
              </a:pathLst>
            </a:custGeom>
            <a:solidFill>
              <a:srgbClr val="030303"/>
            </a:solidFill>
            <a:ln w="28597" cap="sq">
              <a:solidFill>
                <a:srgbClr val="FC8337"/>
              </a:solidFill>
              <a:prstDash val="solid"/>
              <a:miter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13793848" y="6316589"/>
            <a:ext cx="766000" cy="766020"/>
            <a:chOff x="0" y="0"/>
            <a:chExt cx="1021334" cy="102135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021334" cy="1021334"/>
            </a:xfrm>
            <a:custGeom>
              <a:avLst/>
              <a:gdLst/>
              <a:ahLst/>
              <a:cxnLst/>
              <a:rect l="l" t="t" r="r" b="b"/>
              <a:pathLst>
                <a:path w="1021334" h="1021334">
                  <a:moveTo>
                    <a:pt x="0" y="510667"/>
                  </a:moveTo>
                  <a:cubicBezTo>
                    <a:pt x="0" y="228600"/>
                    <a:pt x="228600" y="0"/>
                    <a:pt x="510667" y="0"/>
                  </a:cubicBezTo>
                  <a:cubicBezTo>
                    <a:pt x="792734" y="0"/>
                    <a:pt x="1021334" y="228600"/>
                    <a:pt x="1021334" y="510667"/>
                  </a:cubicBezTo>
                  <a:cubicBezTo>
                    <a:pt x="1021334" y="792734"/>
                    <a:pt x="792734" y="1021334"/>
                    <a:pt x="510667" y="1021334"/>
                  </a:cubicBezTo>
                  <a:cubicBezTo>
                    <a:pt x="228600" y="1021334"/>
                    <a:pt x="0" y="792734"/>
                    <a:pt x="0" y="510667"/>
                  </a:cubicBezTo>
                  <a:close/>
                </a:path>
              </a:pathLst>
            </a:custGeom>
            <a:solidFill>
              <a:srgbClr val="FC8337"/>
            </a:solidFill>
          </p:spPr>
        </p:sp>
      </p:grpSp>
      <p:sp>
        <p:nvSpPr>
          <p:cNvPr id="43" name="Freeform 43" descr="preencoded.png"/>
          <p:cNvSpPr/>
          <p:nvPr/>
        </p:nvSpPr>
        <p:spPr>
          <a:xfrm>
            <a:off x="14004455" y="6527197"/>
            <a:ext cx="344653" cy="344653"/>
          </a:xfrm>
          <a:custGeom>
            <a:avLst/>
            <a:gdLst/>
            <a:ahLst/>
            <a:cxnLst/>
            <a:rect l="l" t="t" r="r" b="b"/>
            <a:pathLst>
              <a:path w="344653" h="344653">
                <a:moveTo>
                  <a:pt x="0" y="0"/>
                </a:moveTo>
                <a:lnTo>
                  <a:pt x="344653" y="0"/>
                </a:lnTo>
                <a:lnTo>
                  <a:pt x="344653" y="344652"/>
                </a:lnTo>
                <a:lnTo>
                  <a:pt x="0" y="3446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0811" r="-10811"/>
            </a:stretch>
          </a:blipFill>
        </p:spPr>
      </p:sp>
      <p:sp>
        <p:nvSpPr>
          <p:cNvPr id="44" name="TextBox 44"/>
          <p:cNvSpPr txBox="1"/>
          <p:nvPr/>
        </p:nvSpPr>
        <p:spPr>
          <a:xfrm>
            <a:off x="13793848" y="7302903"/>
            <a:ext cx="3240653" cy="408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 b="1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Balanced utilization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30303">
                <a:alpha val="56078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1756848"/>
            <a:ext cx="17230954" cy="429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lang="en-US" sz="1726" spc="106">
                <a:solidFill>
                  <a:srgbClr val="FC8337"/>
                </a:solidFill>
                <a:latin typeface="Roboto"/>
                <a:ea typeface="Roboto"/>
                <a:cs typeface="Roboto"/>
                <a:sym typeface="Roboto"/>
              </a:rPr>
              <a:t>ROUTING ARCHITECTURE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991" y="2451344"/>
            <a:ext cx="16315868" cy="728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6"/>
              </a:lnSpc>
            </a:pPr>
            <a:r>
              <a:rPr lang="en-US" sz="4428" b="1">
                <a:solidFill>
                  <a:srgbClr val="FFFFFF"/>
                </a:solidFill>
                <a:latin typeface="Saira Medium"/>
                <a:ea typeface="Saira Medium"/>
                <a:cs typeface="Saira Medium"/>
                <a:sym typeface="Saira Medium"/>
              </a:rPr>
              <a:t>Our innovation: score every feasible server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991" y="3519478"/>
            <a:ext cx="17230954" cy="539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For each incoming request, evaluate the live server state and make the best feasible local choice.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78694" y="4364069"/>
            <a:ext cx="16344462" cy="2628719"/>
            <a:chOff x="0" y="0"/>
            <a:chExt cx="21792616" cy="350495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92692" cy="3504946"/>
            </a:xfrm>
            <a:custGeom>
              <a:avLst/>
              <a:gdLst/>
              <a:ahLst/>
              <a:cxnLst/>
              <a:rect l="l" t="t" r="r" b="b"/>
              <a:pathLst>
                <a:path w="21792692" h="3504946">
                  <a:moveTo>
                    <a:pt x="0" y="344297"/>
                  </a:moveTo>
                  <a:cubicBezTo>
                    <a:pt x="0" y="154178"/>
                    <a:pt x="154178" y="0"/>
                    <a:pt x="344297" y="0"/>
                  </a:cubicBezTo>
                  <a:lnTo>
                    <a:pt x="21448395" y="0"/>
                  </a:lnTo>
                  <a:cubicBezTo>
                    <a:pt x="21638513" y="0"/>
                    <a:pt x="21792692" y="154178"/>
                    <a:pt x="21792692" y="344297"/>
                  </a:cubicBezTo>
                  <a:lnTo>
                    <a:pt x="21792692" y="3160649"/>
                  </a:lnTo>
                  <a:cubicBezTo>
                    <a:pt x="21792692" y="3350768"/>
                    <a:pt x="21638513" y="3504946"/>
                    <a:pt x="21448395" y="3504946"/>
                  </a:cubicBezTo>
                  <a:lnTo>
                    <a:pt x="344297" y="3504946"/>
                  </a:lnTo>
                  <a:cubicBezTo>
                    <a:pt x="154178" y="3504946"/>
                    <a:pt x="0" y="3350895"/>
                    <a:pt x="0" y="3160649"/>
                  </a:cubicBezTo>
                  <a:close/>
                </a:path>
              </a:pathLst>
            </a:custGeom>
            <a:solidFill>
              <a:srgbClr val="030303"/>
            </a:solidFill>
            <a:ln w="28597" cap="sq">
              <a:solidFill>
                <a:srgbClr val="FC8337"/>
              </a:solidFill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021585" y="4406970"/>
            <a:ext cx="5419506" cy="2542927"/>
            <a:chOff x="0" y="0"/>
            <a:chExt cx="7226008" cy="339057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226046" cy="3390519"/>
            </a:xfrm>
            <a:custGeom>
              <a:avLst/>
              <a:gdLst/>
              <a:ahLst/>
              <a:cxnLst/>
              <a:rect l="l" t="t" r="r" b="b"/>
              <a:pathLst>
                <a:path w="7226046" h="3390519">
                  <a:moveTo>
                    <a:pt x="283718" y="0"/>
                  </a:moveTo>
                  <a:lnTo>
                    <a:pt x="7226046" y="0"/>
                  </a:lnTo>
                  <a:lnTo>
                    <a:pt x="7226046" y="3390519"/>
                  </a:lnTo>
                  <a:lnTo>
                    <a:pt x="283718" y="3390519"/>
                  </a:lnTo>
                  <a:cubicBezTo>
                    <a:pt x="127000" y="3390519"/>
                    <a:pt x="0" y="3263519"/>
                    <a:pt x="0" y="3106801"/>
                  </a:cubicBezTo>
                  <a:lnTo>
                    <a:pt x="0" y="283718"/>
                  </a:lnTo>
                  <a:cubicBezTo>
                    <a:pt x="0" y="127000"/>
                    <a:pt x="127000" y="0"/>
                    <a:pt x="283718" y="0"/>
                  </a:cubicBezTo>
                  <a:close/>
                </a:path>
              </a:pathLst>
            </a:custGeom>
            <a:solidFill>
              <a:srgbClr val="030303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1305316" y="4681185"/>
            <a:ext cx="4426515" cy="452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1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Priority Queue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05316" y="5218490"/>
            <a:ext cx="4426515" cy="993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Keeps candidate servers ordered by routing priority dynamically.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441091" y="4406970"/>
            <a:ext cx="5419506" cy="2542927"/>
            <a:chOff x="0" y="0"/>
            <a:chExt cx="7226008" cy="339057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226046" cy="3390519"/>
            </a:xfrm>
            <a:custGeom>
              <a:avLst/>
              <a:gdLst/>
              <a:ahLst/>
              <a:cxnLst/>
              <a:rect l="l" t="t" r="r" b="b"/>
              <a:pathLst>
                <a:path w="7226046" h="3390519">
                  <a:moveTo>
                    <a:pt x="0" y="0"/>
                  </a:moveTo>
                  <a:lnTo>
                    <a:pt x="7226046" y="0"/>
                  </a:lnTo>
                  <a:lnTo>
                    <a:pt x="7226046" y="3390519"/>
                  </a:lnTo>
                  <a:lnTo>
                    <a:pt x="0" y="3390519"/>
                  </a:lnTo>
                  <a:close/>
                </a:path>
              </a:pathLst>
            </a:custGeom>
            <a:solidFill>
              <a:srgbClr val="030303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6441091" y="4406970"/>
            <a:ext cx="38129" cy="2542927"/>
            <a:chOff x="0" y="0"/>
            <a:chExt cx="50838" cy="339057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0800" cy="3390519"/>
            </a:xfrm>
            <a:custGeom>
              <a:avLst/>
              <a:gdLst/>
              <a:ahLst/>
              <a:cxnLst/>
              <a:rect l="l" t="t" r="r" b="b"/>
              <a:pathLst>
                <a:path w="50800" h="3390519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3365119"/>
                  </a:lnTo>
                  <a:cubicBezTo>
                    <a:pt x="50800" y="3379216"/>
                    <a:pt x="39370" y="3390519"/>
                    <a:pt x="25400" y="3390519"/>
                  </a:cubicBezTo>
                  <a:cubicBezTo>
                    <a:pt x="11430" y="3390519"/>
                    <a:pt x="0" y="3379089"/>
                    <a:pt x="0" y="3365119"/>
                  </a:cubicBezTo>
                  <a:close/>
                </a:path>
              </a:pathLst>
            </a:custGeom>
            <a:solidFill>
              <a:srgbClr val="E2691D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7150351" y="4681185"/>
            <a:ext cx="4000995" cy="452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1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Greedy selection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150351" y="5218490"/>
            <a:ext cx="4000995" cy="1447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Chooses the strongest available candidate node immediately.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1860597" y="4406970"/>
            <a:ext cx="5419658" cy="2542927"/>
            <a:chOff x="0" y="0"/>
            <a:chExt cx="7226211" cy="339057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226174" cy="3390519"/>
            </a:xfrm>
            <a:custGeom>
              <a:avLst/>
              <a:gdLst/>
              <a:ahLst/>
              <a:cxnLst/>
              <a:rect l="l" t="t" r="r" b="b"/>
              <a:pathLst>
                <a:path w="7226174" h="3390519">
                  <a:moveTo>
                    <a:pt x="0" y="0"/>
                  </a:moveTo>
                  <a:lnTo>
                    <a:pt x="6942455" y="0"/>
                  </a:lnTo>
                  <a:cubicBezTo>
                    <a:pt x="7099174" y="0"/>
                    <a:pt x="7226174" y="127000"/>
                    <a:pt x="7226174" y="283718"/>
                  </a:cubicBezTo>
                  <a:lnTo>
                    <a:pt x="7226174" y="3106801"/>
                  </a:lnTo>
                  <a:cubicBezTo>
                    <a:pt x="7226174" y="3263519"/>
                    <a:pt x="7099174" y="3390519"/>
                    <a:pt x="6942455" y="3390519"/>
                  </a:cubicBezTo>
                  <a:lnTo>
                    <a:pt x="0" y="33905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0303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11860597" y="4406970"/>
            <a:ext cx="38129" cy="2542927"/>
            <a:chOff x="0" y="0"/>
            <a:chExt cx="50838" cy="339057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0800" cy="3390519"/>
            </a:xfrm>
            <a:custGeom>
              <a:avLst/>
              <a:gdLst/>
              <a:ahLst/>
              <a:cxnLst/>
              <a:rect l="l" t="t" r="r" b="b"/>
              <a:pathLst>
                <a:path w="50800" h="3390519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3365119"/>
                  </a:lnTo>
                  <a:cubicBezTo>
                    <a:pt x="50800" y="3379216"/>
                    <a:pt x="39370" y="3390519"/>
                    <a:pt x="25400" y="3390519"/>
                  </a:cubicBezTo>
                  <a:cubicBezTo>
                    <a:pt x="11430" y="3390519"/>
                    <a:pt x="0" y="3379089"/>
                    <a:pt x="0" y="3365119"/>
                  </a:cubicBezTo>
                  <a:close/>
                </a:path>
              </a:pathLst>
            </a:custGeom>
            <a:solidFill>
              <a:srgbClr val="E2691D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12569857" y="4681185"/>
            <a:ext cx="4426668" cy="452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1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Configurable score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569857" y="5218490"/>
            <a:ext cx="4426668" cy="993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Evaluates queue load + response cost + capacity penalty.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92991" y="7394505"/>
            <a:ext cx="16315868" cy="452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1">
                <a:solidFill>
                  <a:srgbClr val="FFFFFF"/>
                </a:solidFill>
                <a:latin typeface="Saira Medium"/>
                <a:ea typeface="Saira Medium"/>
                <a:cs typeface="Saira Medium"/>
                <a:sym typeface="Saira Medium"/>
              </a:rPr>
              <a:t>Traditional Load Balancing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92991" y="8187099"/>
            <a:ext cx="17230954" cy="539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Fixed round-robin or random server routing ignores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6067396" y="5304663"/>
            <a:ext cx="747389" cy="747398"/>
            <a:chOff x="0" y="0"/>
            <a:chExt cx="996518" cy="996531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96442" cy="996569"/>
            </a:xfrm>
            <a:custGeom>
              <a:avLst/>
              <a:gdLst/>
              <a:ahLst/>
              <a:cxnLst/>
              <a:rect l="l" t="t" r="r" b="b"/>
              <a:pathLst>
                <a:path w="996442" h="996569">
                  <a:moveTo>
                    <a:pt x="0" y="358775"/>
                  </a:moveTo>
                  <a:cubicBezTo>
                    <a:pt x="0" y="160655"/>
                    <a:pt x="160655" y="0"/>
                    <a:pt x="358775" y="0"/>
                  </a:cubicBezTo>
                  <a:lnTo>
                    <a:pt x="637667" y="0"/>
                  </a:lnTo>
                  <a:cubicBezTo>
                    <a:pt x="835787" y="0"/>
                    <a:pt x="996442" y="160655"/>
                    <a:pt x="996442" y="358775"/>
                  </a:cubicBezTo>
                  <a:lnTo>
                    <a:pt x="996442" y="637794"/>
                  </a:lnTo>
                  <a:cubicBezTo>
                    <a:pt x="996442" y="835914"/>
                    <a:pt x="835787" y="996569"/>
                    <a:pt x="637667" y="996569"/>
                  </a:cubicBezTo>
                  <a:lnTo>
                    <a:pt x="358775" y="996569"/>
                  </a:lnTo>
                  <a:cubicBezTo>
                    <a:pt x="160655" y="996569"/>
                    <a:pt x="0" y="835914"/>
                    <a:pt x="0" y="637794"/>
                  </a:cubicBezTo>
                  <a:close/>
                </a:path>
              </a:pathLst>
            </a:custGeom>
            <a:solidFill>
              <a:srgbClr val="030303">
                <a:alpha val="56078"/>
              </a:srgbClr>
            </a:solidFill>
            <a:ln w="38128" cap="sq">
              <a:solidFill>
                <a:srgbClr val="E2691D"/>
              </a:solidFill>
              <a:prstDash val="solid"/>
              <a:miter/>
            </a:ln>
          </p:spPr>
        </p:sp>
      </p:grpSp>
      <p:sp>
        <p:nvSpPr>
          <p:cNvPr id="31" name="Freeform 31" descr="preencoded.png"/>
          <p:cNvSpPr/>
          <p:nvPr/>
        </p:nvSpPr>
        <p:spPr>
          <a:xfrm>
            <a:off x="6263707" y="5500964"/>
            <a:ext cx="354625" cy="354635"/>
          </a:xfrm>
          <a:custGeom>
            <a:avLst/>
            <a:gdLst/>
            <a:ahLst/>
            <a:cxnLst/>
            <a:rect l="l" t="t" r="r" b="b"/>
            <a:pathLst>
              <a:path w="354625" h="354635">
                <a:moveTo>
                  <a:pt x="0" y="0"/>
                </a:moveTo>
                <a:lnTo>
                  <a:pt x="354625" y="0"/>
                </a:lnTo>
                <a:lnTo>
                  <a:pt x="354625" y="354635"/>
                </a:lnTo>
                <a:lnTo>
                  <a:pt x="0" y="3546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" r="-1"/>
            </a:stretch>
          </a:blipFill>
        </p:spPr>
      </p:sp>
      <p:grpSp>
        <p:nvGrpSpPr>
          <p:cNvPr id="32" name="Group 32"/>
          <p:cNvGrpSpPr/>
          <p:nvPr/>
        </p:nvGrpSpPr>
        <p:grpSpPr>
          <a:xfrm>
            <a:off x="11486912" y="5304663"/>
            <a:ext cx="747389" cy="747398"/>
            <a:chOff x="0" y="0"/>
            <a:chExt cx="996518" cy="996531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996442" cy="996569"/>
            </a:xfrm>
            <a:custGeom>
              <a:avLst/>
              <a:gdLst/>
              <a:ahLst/>
              <a:cxnLst/>
              <a:rect l="l" t="t" r="r" b="b"/>
              <a:pathLst>
                <a:path w="996442" h="996569">
                  <a:moveTo>
                    <a:pt x="0" y="358775"/>
                  </a:moveTo>
                  <a:cubicBezTo>
                    <a:pt x="0" y="160655"/>
                    <a:pt x="160655" y="0"/>
                    <a:pt x="358775" y="0"/>
                  </a:cubicBezTo>
                  <a:lnTo>
                    <a:pt x="637667" y="0"/>
                  </a:lnTo>
                  <a:cubicBezTo>
                    <a:pt x="835787" y="0"/>
                    <a:pt x="996442" y="160655"/>
                    <a:pt x="996442" y="358775"/>
                  </a:cubicBezTo>
                  <a:lnTo>
                    <a:pt x="996442" y="637794"/>
                  </a:lnTo>
                  <a:cubicBezTo>
                    <a:pt x="996442" y="835914"/>
                    <a:pt x="835787" y="996569"/>
                    <a:pt x="637667" y="996569"/>
                  </a:cubicBezTo>
                  <a:lnTo>
                    <a:pt x="358775" y="996569"/>
                  </a:lnTo>
                  <a:cubicBezTo>
                    <a:pt x="160655" y="996569"/>
                    <a:pt x="0" y="835914"/>
                    <a:pt x="0" y="637794"/>
                  </a:cubicBezTo>
                  <a:close/>
                </a:path>
              </a:pathLst>
            </a:custGeom>
            <a:solidFill>
              <a:srgbClr val="030303">
                <a:alpha val="56078"/>
              </a:srgbClr>
            </a:solidFill>
            <a:ln w="38128" cap="sq">
              <a:solidFill>
                <a:srgbClr val="E2691D"/>
              </a:solidFill>
              <a:prstDash val="solid"/>
              <a:miter/>
            </a:ln>
          </p:spPr>
        </p:sp>
      </p:grpSp>
      <p:sp>
        <p:nvSpPr>
          <p:cNvPr id="34" name="Freeform 34" descr="preencoded.png"/>
          <p:cNvSpPr/>
          <p:nvPr/>
        </p:nvSpPr>
        <p:spPr>
          <a:xfrm>
            <a:off x="11683213" y="5500964"/>
            <a:ext cx="354625" cy="354635"/>
          </a:xfrm>
          <a:custGeom>
            <a:avLst/>
            <a:gdLst/>
            <a:ahLst/>
            <a:cxnLst/>
            <a:rect l="l" t="t" r="r" b="b"/>
            <a:pathLst>
              <a:path w="354625" h="354635">
                <a:moveTo>
                  <a:pt x="0" y="0"/>
                </a:moveTo>
                <a:lnTo>
                  <a:pt x="354625" y="0"/>
                </a:lnTo>
                <a:lnTo>
                  <a:pt x="354625" y="354635"/>
                </a:lnTo>
                <a:lnTo>
                  <a:pt x="0" y="3546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9209" b="-9209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30303">
                <a:alpha val="56078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931974"/>
            <a:ext cx="17230954" cy="299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3"/>
              </a:lnSpc>
            </a:pPr>
            <a:r>
              <a:rPr lang="en-US" sz="1426" spc="85">
                <a:solidFill>
                  <a:srgbClr val="FC8337"/>
                </a:solidFill>
                <a:latin typeface="Roboto"/>
                <a:ea typeface="Roboto"/>
                <a:cs typeface="Roboto"/>
                <a:sym typeface="Roboto"/>
              </a:rPr>
              <a:t>END-TO-END EXECUTION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991" y="1393984"/>
            <a:ext cx="16315868" cy="586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2"/>
              </a:lnSpc>
            </a:pPr>
            <a:r>
              <a:rPr lang="en-US" sz="3527" b="1">
                <a:solidFill>
                  <a:srgbClr val="FFFFFF"/>
                </a:solidFill>
                <a:latin typeface="Saira Medium"/>
                <a:ea typeface="Saira Medium"/>
                <a:cs typeface="Saira Medium"/>
                <a:sym typeface="Saira Medium"/>
              </a:rPr>
              <a:t>System workflow: from request to response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83456" y="3264713"/>
            <a:ext cx="3961828" cy="246059"/>
            <a:chOff x="0" y="0"/>
            <a:chExt cx="5282438" cy="32807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282438" cy="328168"/>
            </a:xfrm>
            <a:custGeom>
              <a:avLst/>
              <a:gdLst/>
              <a:ahLst/>
              <a:cxnLst/>
              <a:rect l="l" t="t" r="r" b="b"/>
              <a:pathLst>
                <a:path w="5282438" h="328168">
                  <a:moveTo>
                    <a:pt x="0" y="164084"/>
                  </a:moveTo>
                  <a:cubicBezTo>
                    <a:pt x="0" y="73406"/>
                    <a:pt x="73406" y="0"/>
                    <a:pt x="164084" y="0"/>
                  </a:cubicBezTo>
                  <a:lnTo>
                    <a:pt x="5118354" y="0"/>
                  </a:lnTo>
                  <a:cubicBezTo>
                    <a:pt x="5208905" y="0"/>
                    <a:pt x="5282438" y="73406"/>
                    <a:pt x="5282438" y="164084"/>
                  </a:cubicBezTo>
                  <a:cubicBezTo>
                    <a:pt x="5282438" y="254635"/>
                    <a:pt x="5209032" y="328168"/>
                    <a:pt x="5118354" y="328168"/>
                  </a:cubicBezTo>
                  <a:lnTo>
                    <a:pt x="164084" y="328168"/>
                  </a:lnTo>
                  <a:cubicBezTo>
                    <a:pt x="73406" y="328041"/>
                    <a:pt x="0" y="254635"/>
                    <a:pt x="0" y="164084"/>
                  </a:cubicBezTo>
                  <a:close/>
                </a:path>
              </a:pathLst>
            </a:custGeom>
            <a:solidFill>
              <a:srgbClr val="030303"/>
            </a:solidFill>
            <a:ln w="19065" cap="sq">
              <a:solidFill>
                <a:srgbClr val="FC8337"/>
              </a:solidFill>
              <a:prstDash val="solid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1219972" y="3663753"/>
            <a:ext cx="3488788" cy="3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 b="1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1. Client request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9972" y="4108218"/>
            <a:ext cx="3488788" cy="691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Client sends a request to the router.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107772" y="2924232"/>
            <a:ext cx="3961828" cy="246059"/>
            <a:chOff x="0" y="0"/>
            <a:chExt cx="5282438" cy="32807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282438" cy="328168"/>
            </a:xfrm>
            <a:custGeom>
              <a:avLst/>
              <a:gdLst/>
              <a:ahLst/>
              <a:cxnLst/>
              <a:rect l="l" t="t" r="r" b="b"/>
              <a:pathLst>
                <a:path w="5282438" h="328168">
                  <a:moveTo>
                    <a:pt x="0" y="164084"/>
                  </a:moveTo>
                  <a:cubicBezTo>
                    <a:pt x="0" y="73406"/>
                    <a:pt x="73406" y="0"/>
                    <a:pt x="164084" y="0"/>
                  </a:cubicBezTo>
                  <a:lnTo>
                    <a:pt x="5118354" y="0"/>
                  </a:lnTo>
                  <a:cubicBezTo>
                    <a:pt x="5208905" y="0"/>
                    <a:pt x="5282438" y="73406"/>
                    <a:pt x="5282438" y="164084"/>
                  </a:cubicBezTo>
                  <a:cubicBezTo>
                    <a:pt x="5282438" y="254635"/>
                    <a:pt x="5209032" y="328168"/>
                    <a:pt x="5118354" y="328168"/>
                  </a:cubicBezTo>
                  <a:lnTo>
                    <a:pt x="164084" y="328168"/>
                  </a:lnTo>
                  <a:cubicBezTo>
                    <a:pt x="73406" y="328041"/>
                    <a:pt x="0" y="254635"/>
                    <a:pt x="0" y="164084"/>
                  </a:cubicBezTo>
                  <a:close/>
                </a:path>
              </a:pathLst>
            </a:custGeom>
            <a:solidFill>
              <a:srgbClr val="030303"/>
            </a:solidFill>
            <a:ln w="19065" cap="sq">
              <a:solidFill>
                <a:srgbClr val="FC8337"/>
              </a:solidFill>
              <a:prstDash val="solid"/>
              <a:miter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5344297" y="3323263"/>
            <a:ext cx="3488788" cy="3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 b="1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2. Telemetry read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344297" y="3767728"/>
            <a:ext cx="3488788" cy="1018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Router reads queue length, capacity, and estimated response cost.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232097" y="2583742"/>
            <a:ext cx="3961828" cy="246059"/>
            <a:chOff x="0" y="0"/>
            <a:chExt cx="5282438" cy="32807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282438" cy="328168"/>
            </a:xfrm>
            <a:custGeom>
              <a:avLst/>
              <a:gdLst/>
              <a:ahLst/>
              <a:cxnLst/>
              <a:rect l="l" t="t" r="r" b="b"/>
              <a:pathLst>
                <a:path w="5282438" h="328168">
                  <a:moveTo>
                    <a:pt x="0" y="164084"/>
                  </a:moveTo>
                  <a:cubicBezTo>
                    <a:pt x="0" y="73406"/>
                    <a:pt x="73406" y="0"/>
                    <a:pt x="164084" y="0"/>
                  </a:cubicBezTo>
                  <a:lnTo>
                    <a:pt x="5118354" y="0"/>
                  </a:lnTo>
                  <a:cubicBezTo>
                    <a:pt x="5208905" y="0"/>
                    <a:pt x="5282438" y="73406"/>
                    <a:pt x="5282438" y="164084"/>
                  </a:cubicBezTo>
                  <a:cubicBezTo>
                    <a:pt x="5282438" y="254635"/>
                    <a:pt x="5209032" y="328168"/>
                    <a:pt x="5118354" y="328168"/>
                  </a:cubicBezTo>
                  <a:lnTo>
                    <a:pt x="164084" y="328168"/>
                  </a:lnTo>
                  <a:cubicBezTo>
                    <a:pt x="73406" y="328041"/>
                    <a:pt x="0" y="254635"/>
                    <a:pt x="0" y="164084"/>
                  </a:cubicBezTo>
                  <a:close/>
                </a:path>
              </a:pathLst>
            </a:custGeom>
            <a:solidFill>
              <a:srgbClr val="030303"/>
            </a:solidFill>
            <a:ln w="19065" cap="sq">
              <a:solidFill>
                <a:srgbClr val="FC8337"/>
              </a:solidFill>
              <a:prstDash val="solid"/>
              <a:miter/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9468612" y="2982782"/>
            <a:ext cx="3488788" cy="3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 b="1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3. Priority Queue ranking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68612" y="3427238"/>
            <a:ext cx="3488788" cy="691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Priority Queue ranks the available server candidates.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3356412" y="2243252"/>
            <a:ext cx="3961971" cy="246059"/>
            <a:chOff x="0" y="0"/>
            <a:chExt cx="5282628" cy="32807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282692" cy="328168"/>
            </a:xfrm>
            <a:custGeom>
              <a:avLst/>
              <a:gdLst/>
              <a:ahLst/>
              <a:cxnLst/>
              <a:rect l="l" t="t" r="r" b="b"/>
              <a:pathLst>
                <a:path w="5282692" h="328168">
                  <a:moveTo>
                    <a:pt x="0" y="164084"/>
                  </a:moveTo>
                  <a:cubicBezTo>
                    <a:pt x="0" y="73406"/>
                    <a:pt x="73406" y="0"/>
                    <a:pt x="164084" y="0"/>
                  </a:cubicBezTo>
                  <a:lnTo>
                    <a:pt x="5118608" y="0"/>
                  </a:lnTo>
                  <a:cubicBezTo>
                    <a:pt x="5209159" y="0"/>
                    <a:pt x="5282692" y="73406"/>
                    <a:pt x="5282692" y="164084"/>
                  </a:cubicBezTo>
                  <a:cubicBezTo>
                    <a:pt x="5282692" y="254635"/>
                    <a:pt x="5209286" y="328168"/>
                    <a:pt x="5118608" y="328168"/>
                  </a:cubicBezTo>
                  <a:lnTo>
                    <a:pt x="164084" y="328168"/>
                  </a:lnTo>
                  <a:cubicBezTo>
                    <a:pt x="73406" y="328041"/>
                    <a:pt x="0" y="254635"/>
                    <a:pt x="0" y="164084"/>
                  </a:cubicBezTo>
                  <a:close/>
                </a:path>
              </a:pathLst>
            </a:custGeom>
            <a:solidFill>
              <a:srgbClr val="030303"/>
            </a:solidFill>
            <a:ln w="19065" cap="sq">
              <a:solidFill>
                <a:srgbClr val="FC8337"/>
              </a:solidFill>
              <a:prstDash val="solid"/>
              <a:miter/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13592927" y="2642292"/>
            <a:ext cx="3488941" cy="3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 b="1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4. Greedy selection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592927" y="3086757"/>
            <a:ext cx="3488941" cy="691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Greedy strategy selects the best feasible server.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83456" y="6220368"/>
            <a:ext cx="3961828" cy="246059"/>
            <a:chOff x="0" y="0"/>
            <a:chExt cx="5282438" cy="32807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282438" cy="328168"/>
            </a:xfrm>
            <a:custGeom>
              <a:avLst/>
              <a:gdLst/>
              <a:ahLst/>
              <a:cxnLst/>
              <a:rect l="l" t="t" r="r" b="b"/>
              <a:pathLst>
                <a:path w="5282438" h="328168">
                  <a:moveTo>
                    <a:pt x="0" y="164084"/>
                  </a:moveTo>
                  <a:cubicBezTo>
                    <a:pt x="0" y="73406"/>
                    <a:pt x="73406" y="0"/>
                    <a:pt x="164084" y="0"/>
                  </a:cubicBezTo>
                  <a:lnTo>
                    <a:pt x="5118354" y="0"/>
                  </a:lnTo>
                  <a:cubicBezTo>
                    <a:pt x="5208905" y="0"/>
                    <a:pt x="5282438" y="73406"/>
                    <a:pt x="5282438" y="164084"/>
                  </a:cubicBezTo>
                  <a:cubicBezTo>
                    <a:pt x="5282438" y="254635"/>
                    <a:pt x="5209032" y="328168"/>
                    <a:pt x="5118354" y="328168"/>
                  </a:cubicBezTo>
                  <a:lnTo>
                    <a:pt x="164084" y="328168"/>
                  </a:lnTo>
                  <a:cubicBezTo>
                    <a:pt x="73406" y="328041"/>
                    <a:pt x="0" y="254635"/>
                    <a:pt x="0" y="164084"/>
                  </a:cubicBezTo>
                  <a:close/>
                </a:path>
              </a:pathLst>
            </a:custGeom>
            <a:solidFill>
              <a:srgbClr val="030303"/>
            </a:solidFill>
            <a:ln w="19065" cap="sq">
              <a:solidFill>
                <a:srgbClr val="FC8337"/>
              </a:solidFill>
              <a:prstDash val="solid"/>
              <a:miter/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1219972" y="6619408"/>
            <a:ext cx="3488788" cy="3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 b="1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5. Assignment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19972" y="7063873"/>
            <a:ext cx="3488788" cy="691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Request is assigned and processed.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5107772" y="5879878"/>
            <a:ext cx="3961828" cy="246059"/>
            <a:chOff x="0" y="0"/>
            <a:chExt cx="5282438" cy="32807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282438" cy="328168"/>
            </a:xfrm>
            <a:custGeom>
              <a:avLst/>
              <a:gdLst/>
              <a:ahLst/>
              <a:cxnLst/>
              <a:rect l="l" t="t" r="r" b="b"/>
              <a:pathLst>
                <a:path w="5282438" h="328168">
                  <a:moveTo>
                    <a:pt x="0" y="164084"/>
                  </a:moveTo>
                  <a:cubicBezTo>
                    <a:pt x="0" y="73406"/>
                    <a:pt x="73406" y="0"/>
                    <a:pt x="164084" y="0"/>
                  </a:cubicBezTo>
                  <a:lnTo>
                    <a:pt x="5118354" y="0"/>
                  </a:lnTo>
                  <a:cubicBezTo>
                    <a:pt x="5208905" y="0"/>
                    <a:pt x="5282438" y="73406"/>
                    <a:pt x="5282438" y="164084"/>
                  </a:cubicBezTo>
                  <a:cubicBezTo>
                    <a:pt x="5282438" y="254635"/>
                    <a:pt x="5209032" y="328168"/>
                    <a:pt x="5118354" y="328168"/>
                  </a:cubicBezTo>
                  <a:lnTo>
                    <a:pt x="164084" y="328168"/>
                  </a:lnTo>
                  <a:cubicBezTo>
                    <a:pt x="73406" y="328041"/>
                    <a:pt x="0" y="254635"/>
                    <a:pt x="0" y="164084"/>
                  </a:cubicBezTo>
                  <a:close/>
                </a:path>
              </a:pathLst>
            </a:custGeom>
            <a:solidFill>
              <a:srgbClr val="030303"/>
            </a:solidFill>
            <a:ln w="19065" cap="sq">
              <a:solidFill>
                <a:srgbClr val="FC8337"/>
              </a:solidFill>
              <a:prstDash val="solid"/>
              <a:miter/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5344297" y="6278918"/>
            <a:ext cx="3488788" cy="3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 b="1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6. Statistics update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344297" y="6723383"/>
            <a:ext cx="3488788" cy="691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Queue and load statistics update for the next decision.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978694" y="8172440"/>
            <a:ext cx="16344462" cy="1330071"/>
            <a:chOff x="0" y="0"/>
            <a:chExt cx="21792616" cy="177342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1792566" cy="1773428"/>
            </a:xfrm>
            <a:custGeom>
              <a:avLst/>
              <a:gdLst/>
              <a:ahLst/>
              <a:cxnLst/>
              <a:rect l="l" t="t" r="r" b="b"/>
              <a:pathLst>
                <a:path w="21792566" h="1773428">
                  <a:moveTo>
                    <a:pt x="0" y="278384"/>
                  </a:moveTo>
                  <a:cubicBezTo>
                    <a:pt x="0" y="124587"/>
                    <a:pt x="124587" y="0"/>
                    <a:pt x="278384" y="0"/>
                  </a:cubicBezTo>
                  <a:lnTo>
                    <a:pt x="21514181" y="0"/>
                  </a:lnTo>
                  <a:cubicBezTo>
                    <a:pt x="21667978" y="0"/>
                    <a:pt x="21792566" y="124587"/>
                    <a:pt x="21792566" y="278384"/>
                  </a:cubicBezTo>
                  <a:lnTo>
                    <a:pt x="21792566" y="1495044"/>
                  </a:lnTo>
                  <a:cubicBezTo>
                    <a:pt x="21792566" y="1648841"/>
                    <a:pt x="21667978" y="1773428"/>
                    <a:pt x="21514181" y="1773428"/>
                  </a:cubicBezTo>
                  <a:lnTo>
                    <a:pt x="278384" y="1773428"/>
                  </a:lnTo>
                  <a:cubicBezTo>
                    <a:pt x="124587" y="1773428"/>
                    <a:pt x="0" y="1648841"/>
                    <a:pt x="0" y="1495044"/>
                  </a:cubicBezTo>
                  <a:close/>
                </a:path>
              </a:pathLst>
            </a:custGeom>
            <a:solidFill>
              <a:srgbClr val="030303">
                <a:alpha val="56078"/>
              </a:srgbClr>
            </a:solidFill>
            <a:ln w="28597" cap="sq">
              <a:solidFill>
                <a:srgbClr val="FC8337"/>
              </a:solidFill>
              <a:prstDash val="solid"/>
              <a:miter/>
            </a:ln>
          </p:spPr>
        </p:sp>
      </p:grpSp>
      <p:sp>
        <p:nvSpPr>
          <p:cNvPr id="34" name="TextBox 34"/>
          <p:cNvSpPr txBox="1"/>
          <p:nvPr/>
        </p:nvSpPr>
        <p:spPr>
          <a:xfrm>
            <a:off x="1248575" y="8423272"/>
            <a:ext cx="15804699" cy="3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 b="1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Decision example: R104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48575" y="8867737"/>
            <a:ext cx="15804699" cy="364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R104 favors a low-cost, low-queue server with enough capacity.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30303">
                <a:alpha val="56078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1094784"/>
            <a:ext cx="17230954" cy="342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5"/>
              </a:lnSpc>
            </a:pPr>
            <a:r>
              <a:rPr lang="en-US" sz="1501" spc="91">
                <a:solidFill>
                  <a:srgbClr val="FC8337"/>
                </a:solidFill>
                <a:latin typeface="Roboto"/>
                <a:ea typeface="Roboto"/>
                <a:cs typeface="Roboto"/>
                <a:sym typeface="Roboto"/>
              </a:rPr>
              <a:t>TECH STACK &amp; COMPLEXITY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991" y="1623212"/>
            <a:ext cx="16315868" cy="621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752" b="1">
                <a:solidFill>
                  <a:srgbClr val="FFFFFF"/>
                </a:solidFill>
                <a:latin typeface="Saira Medium"/>
                <a:ea typeface="Saira Medium"/>
                <a:cs typeface="Saira Medium"/>
                <a:sym typeface="Saira Medium"/>
              </a:rPr>
              <a:t>Technology and algorithm engine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991" y="2748029"/>
            <a:ext cx="7863773" cy="386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 b="1">
                <a:solidFill>
                  <a:srgbClr val="FFFFFF"/>
                </a:solidFill>
                <a:latin typeface="Saira Medium"/>
                <a:ea typeface="Saira Medium"/>
                <a:cs typeface="Saira Medium"/>
                <a:sym typeface="Saira Medium"/>
              </a:rPr>
              <a:t>Implementation Stack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78694" y="3350657"/>
            <a:ext cx="3858016" cy="3148984"/>
            <a:chOff x="0" y="0"/>
            <a:chExt cx="5144021" cy="419864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144008" cy="4198747"/>
            </a:xfrm>
            <a:custGeom>
              <a:avLst/>
              <a:gdLst/>
              <a:ahLst/>
              <a:cxnLst/>
              <a:rect l="l" t="t" r="r" b="b"/>
              <a:pathLst>
                <a:path w="5144008" h="4198747">
                  <a:moveTo>
                    <a:pt x="0" y="292100"/>
                  </a:moveTo>
                  <a:cubicBezTo>
                    <a:pt x="0" y="130810"/>
                    <a:pt x="130810" y="0"/>
                    <a:pt x="292100" y="0"/>
                  </a:cubicBezTo>
                  <a:lnTo>
                    <a:pt x="4851908" y="0"/>
                  </a:lnTo>
                  <a:cubicBezTo>
                    <a:pt x="5013198" y="0"/>
                    <a:pt x="5144008" y="130810"/>
                    <a:pt x="5144008" y="292100"/>
                  </a:cubicBezTo>
                  <a:lnTo>
                    <a:pt x="5144008" y="3906647"/>
                  </a:lnTo>
                  <a:cubicBezTo>
                    <a:pt x="5144008" y="4067937"/>
                    <a:pt x="5013198" y="4198747"/>
                    <a:pt x="4851908" y="4198747"/>
                  </a:cubicBezTo>
                  <a:lnTo>
                    <a:pt x="292100" y="4198747"/>
                  </a:lnTo>
                  <a:cubicBezTo>
                    <a:pt x="130810" y="4198747"/>
                    <a:pt x="0" y="4067937"/>
                    <a:pt x="0" y="3906647"/>
                  </a:cubicBezTo>
                  <a:close/>
                </a:path>
              </a:pathLst>
            </a:custGeom>
            <a:solidFill>
              <a:srgbClr val="030303"/>
            </a:solidFill>
            <a:ln w="28597" cap="sq">
              <a:solidFill>
                <a:srgbClr val="FC8337"/>
              </a:solidFill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262720" y="3634692"/>
            <a:ext cx="723557" cy="723576"/>
            <a:chOff x="0" y="0"/>
            <a:chExt cx="964743" cy="96476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64692" cy="964819"/>
            </a:xfrm>
            <a:custGeom>
              <a:avLst/>
              <a:gdLst/>
              <a:ahLst/>
              <a:cxnLst/>
              <a:rect l="l" t="t" r="r" b="b"/>
              <a:pathLst>
                <a:path w="964692" h="964819">
                  <a:moveTo>
                    <a:pt x="0" y="482346"/>
                  </a:moveTo>
                  <a:cubicBezTo>
                    <a:pt x="0" y="216027"/>
                    <a:pt x="216027" y="0"/>
                    <a:pt x="482346" y="0"/>
                  </a:cubicBezTo>
                  <a:cubicBezTo>
                    <a:pt x="748665" y="0"/>
                    <a:pt x="964692" y="216027"/>
                    <a:pt x="964692" y="482346"/>
                  </a:cubicBezTo>
                  <a:cubicBezTo>
                    <a:pt x="964692" y="748665"/>
                    <a:pt x="748792" y="964819"/>
                    <a:pt x="482346" y="964819"/>
                  </a:cubicBezTo>
                  <a:cubicBezTo>
                    <a:pt x="215900" y="964819"/>
                    <a:pt x="0" y="748792"/>
                    <a:pt x="0" y="482346"/>
                  </a:cubicBezTo>
                  <a:close/>
                </a:path>
              </a:pathLst>
            </a:custGeom>
            <a:solidFill>
              <a:srgbClr val="FC8337"/>
            </a:solidFill>
          </p:spPr>
        </p:sp>
      </p:grpSp>
      <p:sp>
        <p:nvSpPr>
          <p:cNvPr id="13" name="Freeform 13" descr="preencoded.png"/>
          <p:cNvSpPr/>
          <p:nvPr/>
        </p:nvSpPr>
        <p:spPr>
          <a:xfrm>
            <a:off x="1461706" y="3833679"/>
            <a:ext cx="325584" cy="325593"/>
          </a:xfrm>
          <a:custGeom>
            <a:avLst/>
            <a:gdLst/>
            <a:ahLst/>
            <a:cxnLst/>
            <a:rect l="l" t="t" r="r" b="b"/>
            <a:pathLst>
              <a:path w="325584" h="325593">
                <a:moveTo>
                  <a:pt x="0" y="0"/>
                </a:moveTo>
                <a:lnTo>
                  <a:pt x="325584" y="0"/>
                </a:lnTo>
                <a:lnTo>
                  <a:pt x="325584" y="325593"/>
                </a:lnTo>
                <a:lnTo>
                  <a:pt x="0" y="3255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4285" r="-4288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262720" y="4553683"/>
            <a:ext cx="3289954" cy="386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 b="1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Frontend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62720" y="5087836"/>
            <a:ext cx="3289954" cy="1127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HTML, CSS, JavaScript dashboard and live visualization.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5013046" y="3350657"/>
            <a:ext cx="3858016" cy="3148984"/>
            <a:chOff x="0" y="0"/>
            <a:chExt cx="5144021" cy="419864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144008" cy="4198747"/>
            </a:xfrm>
            <a:custGeom>
              <a:avLst/>
              <a:gdLst/>
              <a:ahLst/>
              <a:cxnLst/>
              <a:rect l="l" t="t" r="r" b="b"/>
              <a:pathLst>
                <a:path w="5144008" h="4198747">
                  <a:moveTo>
                    <a:pt x="0" y="292100"/>
                  </a:moveTo>
                  <a:cubicBezTo>
                    <a:pt x="0" y="130810"/>
                    <a:pt x="130810" y="0"/>
                    <a:pt x="292100" y="0"/>
                  </a:cubicBezTo>
                  <a:lnTo>
                    <a:pt x="4851908" y="0"/>
                  </a:lnTo>
                  <a:cubicBezTo>
                    <a:pt x="5013198" y="0"/>
                    <a:pt x="5144008" y="130810"/>
                    <a:pt x="5144008" y="292100"/>
                  </a:cubicBezTo>
                  <a:lnTo>
                    <a:pt x="5144008" y="3906647"/>
                  </a:lnTo>
                  <a:cubicBezTo>
                    <a:pt x="5144008" y="4067937"/>
                    <a:pt x="5013198" y="4198747"/>
                    <a:pt x="4851908" y="4198747"/>
                  </a:cubicBezTo>
                  <a:lnTo>
                    <a:pt x="292100" y="4198747"/>
                  </a:lnTo>
                  <a:cubicBezTo>
                    <a:pt x="130810" y="4198747"/>
                    <a:pt x="0" y="4067937"/>
                    <a:pt x="0" y="3906647"/>
                  </a:cubicBezTo>
                  <a:close/>
                </a:path>
              </a:pathLst>
            </a:custGeom>
            <a:solidFill>
              <a:srgbClr val="030303"/>
            </a:solidFill>
            <a:ln w="28597" cap="sq">
              <a:solidFill>
                <a:srgbClr val="FC8337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5297081" y="3634692"/>
            <a:ext cx="723557" cy="723576"/>
            <a:chOff x="0" y="0"/>
            <a:chExt cx="964743" cy="96476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64692" cy="964819"/>
            </a:xfrm>
            <a:custGeom>
              <a:avLst/>
              <a:gdLst/>
              <a:ahLst/>
              <a:cxnLst/>
              <a:rect l="l" t="t" r="r" b="b"/>
              <a:pathLst>
                <a:path w="964692" h="964819">
                  <a:moveTo>
                    <a:pt x="0" y="482346"/>
                  </a:moveTo>
                  <a:cubicBezTo>
                    <a:pt x="0" y="216027"/>
                    <a:pt x="216027" y="0"/>
                    <a:pt x="482346" y="0"/>
                  </a:cubicBezTo>
                  <a:cubicBezTo>
                    <a:pt x="748665" y="0"/>
                    <a:pt x="964692" y="216027"/>
                    <a:pt x="964692" y="482346"/>
                  </a:cubicBezTo>
                  <a:cubicBezTo>
                    <a:pt x="964692" y="748665"/>
                    <a:pt x="748792" y="964819"/>
                    <a:pt x="482346" y="964819"/>
                  </a:cubicBezTo>
                  <a:cubicBezTo>
                    <a:pt x="215900" y="964819"/>
                    <a:pt x="0" y="748792"/>
                    <a:pt x="0" y="482346"/>
                  </a:cubicBezTo>
                  <a:close/>
                </a:path>
              </a:pathLst>
            </a:custGeom>
            <a:solidFill>
              <a:srgbClr val="FC8337"/>
            </a:solidFill>
          </p:spPr>
        </p:sp>
      </p:grpSp>
      <p:sp>
        <p:nvSpPr>
          <p:cNvPr id="20" name="Freeform 20" descr="preencoded.png"/>
          <p:cNvSpPr/>
          <p:nvPr/>
        </p:nvSpPr>
        <p:spPr>
          <a:xfrm>
            <a:off x="5496068" y="3833679"/>
            <a:ext cx="325584" cy="325593"/>
          </a:xfrm>
          <a:custGeom>
            <a:avLst/>
            <a:gdLst/>
            <a:ahLst/>
            <a:cxnLst/>
            <a:rect l="l" t="t" r="r" b="b"/>
            <a:pathLst>
              <a:path w="325584" h="325593">
                <a:moveTo>
                  <a:pt x="0" y="0"/>
                </a:moveTo>
                <a:lnTo>
                  <a:pt x="325583" y="0"/>
                </a:lnTo>
                <a:lnTo>
                  <a:pt x="325583" y="325593"/>
                </a:lnTo>
                <a:lnTo>
                  <a:pt x="0" y="3255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5716" r="-5716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5297081" y="4553683"/>
            <a:ext cx="3289954" cy="386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 b="1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Backend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297081" y="5087836"/>
            <a:ext cx="3289954" cy="770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Python + Flask request-routing simulator engine.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78694" y="6675987"/>
            <a:ext cx="7892377" cy="2435247"/>
            <a:chOff x="0" y="0"/>
            <a:chExt cx="10523169" cy="324699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523093" cy="3247009"/>
            </a:xfrm>
            <a:custGeom>
              <a:avLst/>
              <a:gdLst/>
              <a:ahLst/>
              <a:cxnLst/>
              <a:rect l="l" t="t" r="r" b="b"/>
              <a:pathLst>
                <a:path w="10523093" h="3247009">
                  <a:moveTo>
                    <a:pt x="0" y="292862"/>
                  </a:moveTo>
                  <a:cubicBezTo>
                    <a:pt x="0" y="131064"/>
                    <a:pt x="131064" y="0"/>
                    <a:pt x="292862" y="0"/>
                  </a:cubicBezTo>
                  <a:lnTo>
                    <a:pt x="10230231" y="0"/>
                  </a:lnTo>
                  <a:cubicBezTo>
                    <a:pt x="10392029" y="0"/>
                    <a:pt x="10523093" y="131064"/>
                    <a:pt x="10523093" y="292862"/>
                  </a:cubicBezTo>
                  <a:lnTo>
                    <a:pt x="10523093" y="2954147"/>
                  </a:lnTo>
                  <a:cubicBezTo>
                    <a:pt x="10523093" y="3115945"/>
                    <a:pt x="10392029" y="3247009"/>
                    <a:pt x="10230231" y="3247009"/>
                  </a:cubicBezTo>
                  <a:lnTo>
                    <a:pt x="292862" y="3247009"/>
                  </a:lnTo>
                  <a:cubicBezTo>
                    <a:pt x="131064" y="3247009"/>
                    <a:pt x="0" y="3115818"/>
                    <a:pt x="0" y="2954147"/>
                  </a:cubicBezTo>
                  <a:close/>
                </a:path>
              </a:pathLst>
            </a:custGeom>
            <a:solidFill>
              <a:srgbClr val="030303"/>
            </a:solidFill>
            <a:ln w="28597" cap="sq">
              <a:solidFill>
                <a:srgbClr val="FC8337"/>
              </a:solidFill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1262720" y="6960022"/>
            <a:ext cx="723557" cy="723576"/>
            <a:chOff x="0" y="0"/>
            <a:chExt cx="964743" cy="96476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64692" cy="964819"/>
            </a:xfrm>
            <a:custGeom>
              <a:avLst/>
              <a:gdLst/>
              <a:ahLst/>
              <a:cxnLst/>
              <a:rect l="l" t="t" r="r" b="b"/>
              <a:pathLst>
                <a:path w="964692" h="964819">
                  <a:moveTo>
                    <a:pt x="0" y="482346"/>
                  </a:moveTo>
                  <a:cubicBezTo>
                    <a:pt x="0" y="216027"/>
                    <a:pt x="216027" y="0"/>
                    <a:pt x="482346" y="0"/>
                  </a:cubicBezTo>
                  <a:cubicBezTo>
                    <a:pt x="748665" y="0"/>
                    <a:pt x="964692" y="216027"/>
                    <a:pt x="964692" y="482346"/>
                  </a:cubicBezTo>
                  <a:cubicBezTo>
                    <a:pt x="964692" y="748665"/>
                    <a:pt x="748792" y="964819"/>
                    <a:pt x="482346" y="964819"/>
                  </a:cubicBezTo>
                  <a:cubicBezTo>
                    <a:pt x="215900" y="964819"/>
                    <a:pt x="0" y="748792"/>
                    <a:pt x="0" y="482346"/>
                  </a:cubicBezTo>
                  <a:close/>
                </a:path>
              </a:pathLst>
            </a:custGeom>
            <a:solidFill>
              <a:srgbClr val="FC8337"/>
            </a:solidFill>
          </p:spPr>
        </p:sp>
      </p:grpSp>
      <p:sp>
        <p:nvSpPr>
          <p:cNvPr id="27" name="Freeform 27" descr="preencoded.png"/>
          <p:cNvSpPr/>
          <p:nvPr/>
        </p:nvSpPr>
        <p:spPr>
          <a:xfrm>
            <a:off x="1461706" y="7159019"/>
            <a:ext cx="325584" cy="325593"/>
          </a:xfrm>
          <a:custGeom>
            <a:avLst/>
            <a:gdLst/>
            <a:ahLst/>
            <a:cxnLst/>
            <a:rect l="l" t="t" r="r" b="b"/>
            <a:pathLst>
              <a:path w="325584" h="325593">
                <a:moveTo>
                  <a:pt x="0" y="0"/>
                </a:moveTo>
                <a:lnTo>
                  <a:pt x="325584" y="0"/>
                </a:lnTo>
                <a:lnTo>
                  <a:pt x="325584" y="325593"/>
                </a:lnTo>
                <a:lnTo>
                  <a:pt x="0" y="3255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7140" b="-7140"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262720" y="7879023"/>
            <a:ext cx="7324306" cy="386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 b="1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Data Layer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62720" y="8413175"/>
            <a:ext cx="7324306" cy="414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In-memory server and request state for prototype speed.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454610" y="2748029"/>
            <a:ext cx="7863773" cy="386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 b="1">
                <a:solidFill>
                  <a:srgbClr val="FFFFFF"/>
                </a:solidFill>
                <a:latin typeface="Saira Medium"/>
                <a:ea typeface="Saira Medium"/>
                <a:cs typeface="Saira Medium"/>
                <a:sym typeface="Saira Medium"/>
              </a:rPr>
              <a:t>Algorithmic Complexity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9440313" y="3350657"/>
            <a:ext cx="3858016" cy="2220468"/>
            <a:chOff x="0" y="0"/>
            <a:chExt cx="5144021" cy="296062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144008" cy="2960624"/>
            </a:xfrm>
            <a:custGeom>
              <a:avLst/>
              <a:gdLst/>
              <a:ahLst/>
              <a:cxnLst/>
              <a:rect l="l" t="t" r="r" b="b"/>
              <a:pathLst>
                <a:path w="5144008" h="2960624">
                  <a:moveTo>
                    <a:pt x="0" y="293243"/>
                  </a:moveTo>
                  <a:cubicBezTo>
                    <a:pt x="0" y="131318"/>
                    <a:pt x="131318" y="0"/>
                    <a:pt x="293243" y="0"/>
                  </a:cubicBezTo>
                  <a:lnTo>
                    <a:pt x="4850765" y="0"/>
                  </a:lnTo>
                  <a:cubicBezTo>
                    <a:pt x="5012690" y="0"/>
                    <a:pt x="5144008" y="131318"/>
                    <a:pt x="5144008" y="293243"/>
                  </a:cubicBezTo>
                  <a:lnTo>
                    <a:pt x="5144008" y="2667381"/>
                  </a:lnTo>
                  <a:cubicBezTo>
                    <a:pt x="5144008" y="2829306"/>
                    <a:pt x="5012690" y="2960624"/>
                    <a:pt x="4850765" y="2960624"/>
                  </a:cubicBezTo>
                  <a:lnTo>
                    <a:pt x="293243" y="2960624"/>
                  </a:lnTo>
                  <a:cubicBezTo>
                    <a:pt x="131318" y="2960624"/>
                    <a:pt x="0" y="2829306"/>
                    <a:pt x="0" y="2667381"/>
                  </a:cubicBezTo>
                  <a:close/>
                </a:path>
              </a:pathLst>
            </a:custGeom>
            <a:solidFill>
              <a:srgbClr val="030303">
                <a:alpha val="56078"/>
              </a:srgbClr>
            </a:solidFill>
            <a:ln w="28597" cap="sq">
              <a:solidFill>
                <a:srgbClr val="FC8337"/>
              </a:solidFill>
              <a:prstDash val="solid"/>
              <a:miter/>
            </a:ln>
          </p:spPr>
        </p:sp>
      </p:grpSp>
      <p:sp>
        <p:nvSpPr>
          <p:cNvPr id="33" name="TextBox 33"/>
          <p:cNvSpPr txBox="1"/>
          <p:nvPr/>
        </p:nvSpPr>
        <p:spPr>
          <a:xfrm>
            <a:off x="9724339" y="3625167"/>
            <a:ext cx="3289954" cy="386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 b="1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Greedy Strategy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724339" y="4159320"/>
            <a:ext cx="3289954" cy="1127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Fast local choice for each incoming request without global backtracking overhead.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3474675" y="3350657"/>
            <a:ext cx="3858016" cy="2220468"/>
            <a:chOff x="0" y="0"/>
            <a:chExt cx="5144021" cy="296062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144008" cy="2960624"/>
            </a:xfrm>
            <a:custGeom>
              <a:avLst/>
              <a:gdLst/>
              <a:ahLst/>
              <a:cxnLst/>
              <a:rect l="l" t="t" r="r" b="b"/>
              <a:pathLst>
                <a:path w="5144008" h="2960624">
                  <a:moveTo>
                    <a:pt x="0" y="293243"/>
                  </a:moveTo>
                  <a:cubicBezTo>
                    <a:pt x="0" y="131318"/>
                    <a:pt x="131318" y="0"/>
                    <a:pt x="293243" y="0"/>
                  </a:cubicBezTo>
                  <a:lnTo>
                    <a:pt x="4850765" y="0"/>
                  </a:lnTo>
                  <a:cubicBezTo>
                    <a:pt x="5012690" y="0"/>
                    <a:pt x="5144008" y="131318"/>
                    <a:pt x="5144008" y="293243"/>
                  </a:cubicBezTo>
                  <a:lnTo>
                    <a:pt x="5144008" y="2667381"/>
                  </a:lnTo>
                  <a:cubicBezTo>
                    <a:pt x="5144008" y="2829306"/>
                    <a:pt x="5012690" y="2960624"/>
                    <a:pt x="4850765" y="2960624"/>
                  </a:cubicBezTo>
                  <a:lnTo>
                    <a:pt x="293243" y="2960624"/>
                  </a:lnTo>
                  <a:cubicBezTo>
                    <a:pt x="131318" y="2960624"/>
                    <a:pt x="0" y="2829306"/>
                    <a:pt x="0" y="2667381"/>
                  </a:cubicBezTo>
                  <a:close/>
                </a:path>
              </a:pathLst>
            </a:custGeom>
            <a:solidFill>
              <a:srgbClr val="030303">
                <a:alpha val="56078"/>
              </a:srgbClr>
            </a:solidFill>
            <a:ln w="28597" cap="sq">
              <a:solidFill>
                <a:srgbClr val="FC8337"/>
              </a:solidFill>
              <a:prstDash val="solid"/>
              <a:miter/>
            </a:ln>
          </p:spPr>
        </p:sp>
      </p:grpSp>
      <p:sp>
        <p:nvSpPr>
          <p:cNvPr id="37" name="TextBox 37"/>
          <p:cNvSpPr txBox="1"/>
          <p:nvPr/>
        </p:nvSpPr>
        <p:spPr>
          <a:xfrm>
            <a:off x="13758701" y="3625167"/>
            <a:ext cx="3289954" cy="386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 b="1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Priority Queue Heap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758701" y="4159320"/>
            <a:ext cx="3289954" cy="1127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Efficient candidate management as priorities change dynamically.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9440313" y="5747471"/>
            <a:ext cx="7892377" cy="1863595"/>
            <a:chOff x="0" y="0"/>
            <a:chExt cx="10523169" cy="2484793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0523093" cy="2484755"/>
            </a:xfrm>
            <a:custGeom>
              <a:avLst/>
              <a:gdLst/>
              <a:ahLst/>
              <a:cxnLst/>
              <a:rect l="l" t="t" r="r" b="b"/>
              <a:pathLst>
                <a:path w="10523093" h="2484755">
                  <a:moveTo>
                    <a:pt x="0" y="293878"/>
                  </a:moveTo>
                  <a:cubicBezTo>
                    <a:pt x="0" y="131572"/>
                    <a:pt x="131572" y="0"/>
                    <a:pt x="293878" y="0"/>
                  </a:cubicBezTo>
                  <a:lnTo>
                    <a:pt x="10229215" y="0"/>
                  </a:lnTo>
                  <a:cubicBezTo>
                    <a:pt x="10391522" y="0"/>
                    <a:pt x="10523093" y="131572"/>
                    <a:pt x="10523093" y="293878"/>
                  </a:cubicBezTo>
                  <a:lnTo>
                    <a:pt x="10523093" y="2190877"/>
                  </a:lnTo>
                  <a:cubicBezTo>
                    <a:pt x="10523093" y="2353183"/>
                    <a:pt x="10391522" y="2484755"/>
                    <a:pt x="10229215" y="2484755"/>
                  </a:cubicBezTo>
                  <a:lnTo>
                    <a:pt x="293878" y="2484755"/>
                  </a:lnTo>
                  <a:cubicBezTo>
                    <a:pt x="131572" y="2484755"/>
                    <a:pt x="0" y="2353183"/>
                    <a:pt x="0" y="2190877"/>
                  </a:cubicBezTo>
                  <a:close/>
                </a:path>
              </a:pathLst>
            </a:custGeom>
            <a:solidFill>
              <a:srgbClr val="030303">
                <a:alpha val="56078"/>
              </a:srgbClr>
            </a:solidFill>
            <a:ln w="28597" cap="sq">
              <a:solidFill>
                <a:srgbClr val="FC8337"/>
              </a:solidFill>
              <a:prstDash val="solid"/>
              <a:miter/>
            </a:ln>
          </p:spPr>
        </p:sp>
      </p:grpSp>
      <p:sp>
        <p:nvSpPr>
          <p:cNvPr id="41" name="TextBox 41"/>
          <p:cNvSpPr txBox="1"/>
          <p:nvPr/>
        </p:nvSpPr>
        <p:spPr>
          <a:xfrm>
            <a:off x="9724339" y="6021981"/>
            <a:ext cx="7324306" cy="386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 b="1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Complexity Target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724339" y="6556134"/>
            <a:ext cx="7324306" cy="770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Insert / update runs in O(log n); best-candidate retrieval takes O(1) peek or O(log n) removal.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30303">
                <a:alpha val="56078"/>
              </a:srgbClr>
            </a:solidFill>
          </p:spPr>
        </p:sp>
      </p:grpSp>
      <p:pic>
        <p:nvPicPr>
          <p:cNvPr id="20" name="Picture Dashboard" descr="Dashboard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694" y="1100000"/>
            <a:ext cx="5248154" cy="2952086"/>
          </a:xfrm>
          <a:prstGeom prst="rect">
            <a:avLst/>
          </a:prstGeom>
          <a:ln w="28597">
            <a:solidFill>
              <a:srgbClr val="FC8337"/>
            </a:solidFill>
          </a:ln>
        </p:spPr>
      </p:pic>
      <p:sp>
        <p:nvSpPr>
          <p:cNvPr id="21" name="Heading Dashboard"/>
          <p:cNvSpPr txBox="1"/>
          <p:nvPr/>
        </p:nvSpPr>
        <p:spPr>
          <a:xfrm>
            <a:off x="978694" y="4252086"/>
            <a:ext cx="5248154" cy="4500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2600" b="1">
                <a:solidFill>
                  <a:srgbClr val="FC8337"/>
                </a:solidFill>
                <a:latin typeface="Saira Medium"/>
                <a:ea typeface="Saira Medium"/>
                <a:cs typeface="Saira Medium"/>
                <a:sym typeface="Saira Medium"/>
              </a:rPr>
              <a:t>Dashboard</a:t>
            </a:r>
          </a:p>
        </p:txBody>
      </p:sp>
      <p:sp>
        <p:nvSpPr>
          <p:cNvPr id="22" name="Summary Dashboard"/>
          <p:cNvSpPr txBox="1"/>
          <p:nvPr/>
        </p:nvSpPr>
        <p:spPr>
          <a:xfrm>
            <a:off x="978694" y="4772086"/>
            <a:ext cx="5248154" cy="17000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lang="en-US" sz="20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Live overview of requests, active servers and average response cost, with Run Demo, Route Next Request and Reset controls.</a:t>
            </a:r>
          </a:p>
        </p:txBody>
      </p:sp>
      <p:pic>
        <p:nvPicPr>
          <p:cNvPr id="23" name="Picture User Profile" descr="User profile screensho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6848" y="1100000"/>
            <a:ext cx="5248154" cy="2952086"/>
          </a:xfrm>
          <a:prstGeom prst="rect">
            <a:avLst/>
          </a:prstGeom>
          <a:ln w="28597">
            <a:solidFill>
              <a:srgbClr val="FC8337"/>
            </a:solidFill>
          </a:ln>
        </p:spPr>
      </p:pic>
      <p:sp>
        <p:nvSpPr>
          <p:cNvPr id="24" name="Heading User Profile"/>
          <p:cNvSpPr txBox="1"/>
          <p:nvPr/>
        </p:nvSpPr>
        <p:spPr>
          <a:xfrm>
            <a:off x="6526848" y="4252086"/>
            <a:ext cx="5248154" cy="4500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2600" b="1">
                <a:solidFill>
                  <a:srgbClr val="FC8337"/>
                </a:solidFill>
                <a:latin typeface="Saira Medium"/>
                <a:ea typeface="Saira Medium"/>
                <a:cs typeface="Saira Medium"/>
                <a:sym typeface="Saira Medium"/>
              </a:rPr>
              <a:t>User Profile</a:t>
            </a:r>
          </a:p>
        </p:txBody>
      </p:sp>
      <p:sp>
        <p:nvSpPr>
          <p:cNvPr id="25" name="Summary User Profile"/>
          <p:cNvSpPr txBox="1"/>
          <p:nvPr/>
        </p:nvSpPr>
        <p:spPr>
          <a:xfrm>
            <a:off x="6526848" y="4772086"/>
            <a:ext cx="5248154" cy="17000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lang="en-US" sz="20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Participant profile showing the project, the Greedy + Priority Queue algorithms, the Python + Flask + JavaScript stack and activity counts.</a:t>
            </a:r>
          </a:p>
        </p:txBody>
      </p:sp>
      <p:pic>
        <p:nvPicPr>
          <p:cNvPr id="26" name="Picture Request Routing" descr="Request routing screensho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75002" y="1100000"/>
            <a:ext cx="5248154" cy="2952086"/>
          </a:xfrm>
          <a:prstGeom prst="rect">
            <a:avLst/>
          </a:prstGeom>
          <a:ln w="28597">
            <a:solidFill>
              <a:srgbClr val="FC8337"/>
            </a:solidFill>
          </a:ln>
        </p:spPr>
      </p:pic>
      <p:sp>
        <p:nvSpPr>
          <p:cNvPr id="27" name="Heading Request Routing"/>
          <p:cNvSpPr txBox="1"/>
          <p:nvPr/>
        </p:nvSpPr>
        <p:spPr>
          <a:xfrm>
            <a:off x="12075002" y="4252086"/>
            <a:ext cx="5248154" cy="4500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2600" b="1">
                <a:solidFill>
                  <a:srgbClr val="FC8337"/>
                </a:solidFill>
                <a:latin typeface="Saira Medium"/>
                <a:ea typeface="Saira Medium"/>
                <a:cs typeface="Saira Medium"/>
                <a:sym typeface="Saira Medium"/>
              </a:rPr>
              <a:t>Request Routing</a:t>
            </a:r>
          </a:p>
        </p:txBody>
      </p:sp>
      <p:sp>
        <p:nvSpPr>
          <p:cNvPr id="28" name="Summary Request Routing"/>
          <p:cNvSpPr txBox="1"/>
          <p:nvPr/>
        </p:nvSpPr>
        <p:spPr>
          <a:xfrm>
            <a:off x="12075002" y="4772086"/>
            <a:ext cx="5248154" cy="17000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lang="en-US" sz="20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Requests wait in a priority queue (heapq), highest priority first. Each is routed by Score = Queue Length + Response Cost.</a:t>
            </a:r>
          </a:p>
        </p:txBody>
      </p:sp>
      <p:sp>
        <p:nvSpPr>
          <p:cNvPr id="29" name="Takeaway Card"/>
          <p:cNvSpPr/>
          <p:nvPr/>
        </p:nvSpPr>
        <p:spPr>
          <a:xfrm>
            <a:off x="978694" y="6672086"/>
            <a:ext cx="16344462" cy="1500000"/>
          </a:xfrm>
          <a:prstGeom prst="roundRect">
            <a:avLst>
              <a:gd name="adj" fmla="val 14000"/>
            </a:avLst>
          </a:prstGeom>
          <a:solidFill>
            <a:srgbClr val="030303"/>
          </a:solidFill>
          <a:ln w="28597">
            <a:solidFill>
              <a:srgbClr val="FC8337"/>
            </a:solidFill>
          </a:ln>
        </p:spPr>
        <p:txBody>
          <a:bodyPr wrap="square" lIns="360000" tIns="0" rIns="360000" bIns="0" anchor="ctr">
            <a:noAutofit/>
          </a:bodyPr>
          <a:lstStyle/>
          <a:p>
            <a:pPr algn="ctr"/>
            <a:r>
              <a:rPr lang="en-US" sz="2600" b="1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The Priority Queue orders requests, Greedy selection picks the best server, and the dashboard shows every decision live.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30303">
                <a:alpha val="56078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3040609"/>
            <a:ext cx="17230954" cy="429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lang="en-US" sz="1726" spc="106">
                <a:solidFill>
                  <a:srgbClr val="FC8337"/>
                </a:solidFill>
                <a:latin typeface="Roboto"/>
                <a:ea typeface="Roboto"/>
                <a:cs typeface="Roboto"/>
                <a:sym typeface="Roboto"/>
              </a:rPr>
              <a:t>ROADMAP &amp; SUMMARY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991" y="3735095"/>
            <a:ext cx="16315868" cy="728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6"/>
              </a:lnSpc>
            </a:pPr>
            <a:r>
              <a:rPr lang="en-US" sz="4428" b="1">
                <a:solidFill>
                  <a:srgbClr val="FFFFFF"/>
                </a:solidFill>
                <a:latin typeface="Saira Medium"/>
                <a:ea typeface="Saira Medium"/>
                <a:cs typeface="Saira Medium"/>
                <a:sym typeface="Saira Medium"/>
              </a:rPr>
              <a:t>Future vision: from simulation to platform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78694" y="5647830"/>
            <a:ext cx="16344462" cy="1809531"/>
            <a:chOff x="0" y="0"/>
            <a:chExt cx="21792616" cy="241270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792564" cy="2412746"/>
            </a:xfrm>
            <a:custGeom>
              <a:avLst/>
              <a:gdLst/>
              <a:ahLst/>
              <a:cxnLst/>
              <a:rect l="l" t="t" r="r" b="b"/>
              <a:pathLst>
                <a:path w="21792564" h="2412746">
                  <a:moveTo>
                    <a:pt x="0" y="345948"/>
                  </a:moveTo>
                  <a:cubicBezTo>
                    <a:pt x="0" y="154940"/>
                    <a:pt x="154940" y="0"/>
                    <a:pt x="345948" y="0"/>
                  </a:cubicBezTo>
                  <a:lnTo>
                    <a:pt x="21446617" y="0"/>
                  </a:lnTo>
                  <a:cubicBezTo>
                    <a:pt x="21637625" y="0"/>
                    <a:pt x="21792564" y="154940"/>
                    <a:pt x="21792564" y="345948"/>
                  </a:cubicBezTo>
                  <a:lnTo>
                    <a:pt x="21792564" y="2066798"/>
                  </a:lnTo>
                  <a:cubicBezTo>
                    <a:pt x="21792564" y="2257806"/>
                    <a:pt x="21637625" y="2412746"/>
                    <a:pt x="21446617" y="2412746"/>
                  </a:cubicBezTo>
                  <a:lnTo>
                    <a:pt x="345948" y="2412746"/>
                  </a:lnTo>
                  <a:cubicBezTo>
                    <a:pt x="154940" y="2412746"/>
                    <a:pt x="0" y="2257806"/>
                    <a:pt x="0" y="2066798"/>
                  </a:cubicBezTo>
                  <a:close/>
                </a:path>
              </a:pathLst>
            </a:custGeom>
            <a:solidFill>
              <a:srgbClr val="030303"/>
            </a:solidFill>
            <a:ln w="28597" cap="sq">
              <a:solidFill>
                <a:srgbClr val="FC8337"/>
              </a:solidFill>
              <a:prstDash val="solid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1305239" y="5955411"/>
            <a:ext cx="15691209" cy="551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21"/>
              </a:lnSpc>
            </a:pPr>
            <a:r>
              <a:rPr lang="en-US" sz="3302" b="1">
                <a:solidFill>
                  <a:srgbClr val="E5E0DF"/>
                </a:solidFill>
                <a:latin typeface="Saira Medium"/>
                <a:ea typeface="Saira Medium"/>
                <a:cs typeface="Saira Medium"/>
                <a:sym typeface="Saira Medium"/>
              </a:rPr>
              <a:t>Route smarter. Balance workloads. Respond faster.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05316" y="6591014"/>
            <a:ext cx="15691209" cy="539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4"/>
              </a:lnSpc>
            </a:pPr>
            <a:r>
              <a:rPr lang="en-US" sz="2176" b="1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THANK YOU ·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529</Words>
  <Application>Microsoft Office PowerPoint</Application>
  <PresentationFormat>Custom</PresentationFormat>
  <Paragraphs>101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Roboto</vt:lpstr>
      <vt:lpstr>Arial</vt:lpstr>
      <vt:lpstr>Roboto Bold</vt:lpstr>
      <vt:lpstr>Saira Medium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- 7 - PPT.pptx</dc:title>
  <cp:lastModifiedBy>Niklesh naidu</cp:lastModifiedBy>
  <cp:revision>2</cp:revision>
  <dcterms:created xsi:type="dcterms:W3CDTF">2006-08-16T00:00:00Z</dcterms:created>
  <dcterms:modified xsi:type="dcterms:W3CDTF">2026-10-03T07:25:17Z</dcterms:modified>
  <dc:identifier>DAHW7vL5mZs</dc:identifier>
</cp:coreProperties>
</file>