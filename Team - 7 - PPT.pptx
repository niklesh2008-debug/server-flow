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3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Saira Medium" charset="1" panose="00000600000000000000"/>
      <p:regular r:id="rId16"/>
    </p:embeddedFont>
    <p:embeddedFont>
      <p:font typeface="Roboto" charset="1" panose="02000000000000000000"/>
      <p:regular r:id="rId17"/>
    </p:embeddedFont>
    <p:embeddedFont>
      <p:font typeface="Roboto Bold" charset="1" panose="0200000000000000000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notesMasters/notesMaster1.xml" Type="http://schemas.openxmlformats.org/officeDocument/2006/relationships/notesMaster"/><Relationship Id="rId14" Target="theme/theme2.xml" Type="http://schemas.openxmlformats.org/officeDocument/2006/relationships/theme"/><Relationship Id="rId15" Target="notesSlides/notesSlide1.xml" Type="http://schemas.openxmlformats.org/officeDocument/2006/relationships/notes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notesSlides/notesSlide2.xml" Type="http://schemas.openxmlformats.org/officeDocument/2006/relationships/notesSlide"/><Relationship Id="rId19" Target="notesSlides/notesSlide3.xml" Type="http://schemas.openxmlformats.org/officeDocument/2006/relationships/notesSlide"/><Relationship Id="rId2" Target="presProps.xml" Type="http://schemas.openxmlformats.org/officeDocument/2006/relationships/presProps"/><Relationship Id="rId20" Target="notesSlides/notesSlide4.xml" Type="http://schemas.openxmlformats.org/officeDocument/2006/relationships/notesSlide"/><Relationship Id="rId21" Target="notesSlides/notesSlide5.xml" Type="http://schemas.openxmlformats.org/officeDocument/2006/relationships/notesSlide"/><Relationship Id="rId22" Target="notesSlides/notesSlide6.xml" Type="http://schemas.openxmlformats.org/officeDocument/2006/relationships/notesSlide"/><Relationship Id="rId23" Target="notesSlides/notesSlide7.xml" Type="http://schemas.openxmlformats.org/officeDocument/2006/relationships/notesSlide"/><Relationship Id="rId24" Target="fonts/font24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5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7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.png" Type="http://schemas.openxmlformats.org/officeDocument/2006/relationships/image"/><Relationship Id="rId11" Target="../media/image9.svg" Type="http://schemas.openxmlformats.org/officeDocument/2006/relationships/image"/><Relationship Id="rId2" Target="../notesSlides/notesSlide2.xml" Type="http://schemas.openxmlformats.org/officeDocument/2006/relationships/notesSlide"/><Relationship Id="rId3" Target="../media/image1.jpeg" Type="http://schemas.openxmlformats.org/officeDocument/2006/relationships/image"/><Relationship Id="rId4" Target="../media/image2.png" Type="http://schemas.openxmlformats.org/officeDocument/2006/relationships/image"/><Relationship Id="rId5" Target="../media/image3.svg" Type="http://schemas.openxmlformats.org/officeDocument/2006/relationships/image"/><Relationship Id="rId6" Target="../media/image4.png" Type="http://schemas.openxmlformats.org/officeDocument/2006/relationships/image"/><Relationship Id="rId7" Target="../media/image5.svg" Type="http://schemas.openxmlformats.org/officeDocument/2006/relationships/image"/><Relationship Id="rId8" Target="../media/image6.png" Type="http://schemas.openxmlformats.org/officeDocument/2006/relationships/image"/><Relationship Id="rId9" Target="../media/image7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1.jpeg" Type="http://schemas.openxmlformats.org/officeDocument/2006/relationships/image"/><Relationship Id="rId4" Target="../media/image10.png" Type="http://schemas.openxmlformats.org/officeDocument/2006/relationships/image"/><Relationship Id="rId5" Target="../media/image11.svg" Type="http://schemas.openxmlformats.org/officeDocument/2006/relationships/image"/><Relationship Id="rId6" Target="../media/image12.png" Type="http://schemas.openxmlformats.org/officeDocument/2006/relationships/image"/><Relationship Id="rId7" Target="../media/image13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1.jpe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1.jpeg" Type="http://schemas.openxmlformats.org/officeDocument/2006/relationships/image"/><Relationship Id="rId4" Target="../media/image14.png" Type="http://schemas.openxmlformats.org/officeDocument/2006/relationships/image"/><Relationship Id="rId5" Target="../media/image15.svg" Type="http://schemas.openxmlformats.org/officeDocument/2006/relationships/image"/><Relationship Id="rId6" Target="../media/image16.png" Type="http://schemas.openxmlformats.org/officeDocument/2006/relationships/image"/><Relationship Id="rId7" Target="../media/image17.svg" Type="http://schemas.openxmlformats.org/officeDocument/2006/relationships/image"/><Relationship Id="rId8" Target="../media/image18.png" Type="http://schemas.openxmlformats.org/officeDocument/2006/relationships/image"/><Relationship Id="rId9" Target="../media/image19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1.jpeg" Type="http://schemas.openxmlformats.org/officeDocument/2006/relationships/image"/><Relationship Id="rId10" Target="../media/image101.png" Type="http://schemas.openxmlformats.org/officeDocument/2006/relationships/image"/><Relationship Id="rId11" Target="../media/image102.png" Type="http://schemas.openxmlformats.org/officeDocument/2006/relationships/image"/><Relationship Id="rId12" Target="../media/image103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6796269" y="2444191"/>
            <a:ext cx="4709160" cy="8614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1"/>
              </a:lnSpc>
            </a:pPr>
            <a:r>
              <a:rPr lang="en-US" sz="5554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SERVERFLOW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535438" y="3689718"/>
            <a:ext cx="17230954" cy="53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Intelligent request routing using Greedy and Priority Queue algorithms.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991" y="4822831"/>
            <a:ext cx="4920405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Team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028700" y="5193540"/>
            <a:ext cx="5214053" cy="15538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04"/>
              </a:lnSpc>
            </a:pPr>
            <a:r>
              <a:rPr lang="en-US" sz="1944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Poluru Niklesh</a:t>
            </a:r>
          </a:p>
          <a:p>
            <a:pPr algn="l">
              <a:lnSpc>
                <a:spcPts val="3104"/>
              </a:lnSpc>
            </a:pPr>
            <a:r>
              <a:rPr lang="en-US" sz="1944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Kammari Vinay Kumar</a:t>
            </a:r>
          </a:p>
          <a:p>
            <a:pPr algn="l">
              <a:lnSpc>
                <a:spcPts val="3104"/>
              </a:lnSpc>
            </a:pPr>
            <a:r>
              <a:rPr lang="en-US" sz="1944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Gojur Ravi Teja</a:t>
            </a:r>
          </a:p>
          <a:p>
            <a:pPr algn="l">
              <a:lnSpc>
                <a:spcPts val="3104"/>
              </a:lnSpc>
            </a:pPr>
            <a:r>
              <a:rPr lang="en-US" sz="1944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Avula Gouri Shankar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615208" y="4822831"/>
            <a:ext cx="4920405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Institution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615208" y="5473627"/>
            <a:ext cx="5835501" cy="41440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Malla Reddy Technical Campus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2237415" y="4822831"/>
            <a:ext cx="5090350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Domain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2237415" y="5473627"/>
            <a:ext cx="5090350" cy="993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Distributed Systems / Web Infrastructure / Algorithm Optimization</a:t>
            </a:r>
          </a:p>
        </p:txBody>
      </p:sp>
      <p:grpSp>
        <p:nvGrpSpPr>
          <p:cNvPr name="Group 14" id="14"/>
          <p:cNvGrpSpPr/>
          <p:nvPr/>
        </p:nvGrpSpPr>
        <p:grpSpPr>
          <a:xfrm rot="0">
            <a:off x="978694" y="7027497"/>
            <a:ext cx="16344462" cy="1720758"/>
            <a:chOff x="0" y="0"/>
            <a:chExt cx="21792616" cy="2294344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792564" cy="2294255"/>
            </a:xfrm>
            <a:custGeom>
              <a:avLst/>
              <a:gdLst/>
              <a:ahLst/>
              <a:cxnLst/>
              <a:rect r="r" b="b" t="t" l="l"/>
              <a:pathLst>
                <a:path h="2294255" w="21792564">
                  <a:moveTo>
                    <a:pt x="0" y="346202"/>
                  </a:moveTo>
                  <a:cubicBezTo>
                    <a:pt x="0" y="155067"/>
                    <a:pt x="155067" y="0"/>
                    <a:pt x="346202" y="0"/>
                  </a:cubicBezTo>
                  <a:lnTo>
                    <a:pt x="21446362" y="0"/>
                  </a:lnTo>
                  <a:cubicBezTo>
                    <a:pt x="21637625" y="0"/>
                    <a:pt x="21792564" y="155067"/>
                    <a:pt x="21792564" y="346202"/>
                  </a:cubicBezTo>
                  <a:lnTo>
                    <a:pt x="21792564" y="1948053"/>
                  </a:lnTo>
                  <a:cubicBezTo>
                    <a:pt x="21792564" y="2139315"/>
                    <a:pt x="21637498" y="2294255"/>
                    <a:pt x="21446362" y="2294255"/>
                  </a:cubicBezTo>
                  <a:lnTo>
                    <a:pt x="346202" y="2294255"/>
                  </a:lnTo>
                  <a:cubicBezTo>
                    <a:pt x="155067" y="2294382"/>
                    <a:pt x="0" y="2139315"/>
                    <a:pt x="0" y="1948053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6" id="16"/>
          <p:cNvSpPr txBox="true"/>
          <p:nvPr/>
        </p:nvSpPr>
        <p:spPr>
          <a:xfrm rot="0">
            <a:off x="1305316" y="7344613"/>
            <a:ext cx="15691209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Core Routing Principle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305316" y="7881909"/>
            <a:ext cx="15691209" cy="53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An incoming request is routed to the most suitable server using queue length, capacity, and estimated response cost.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1363047"/>
            <a:ext cx="17230954" cy="377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02"/>
              </a:lnSpc>
            </a:pPr>
            <a:r>
              <a:rPr lang="en-US" sz="1576" spc="96">
                <a:solidFill>
                  <a:srgbClr val="FC8337"/>
                </a:solidFill>
                <a:latin typeface="Roboto"/>
                <a:ea typeface="Roboto"/>
                <a:cs typeface="Roboto"/>
                <a:sym typeface="Roboto"/>
              </a:rPr>
              <a:t>SYSTEM BOTTLENECKS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991" y="1960559"/>
            <a:ext cx="16315868" cy="647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64"/>
              </a:lnSpc>
            </a:pPr>
            <a:r>
              <a:rPr lang="en-US" sz="3978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The challenge: avoiding server overload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78694" y="3197390"/>
            <a:ext cx="7875099" cy="2001364"/>
            <a:chOff x="0" y="0"/>
            <a:chExt cx="10500131" cy="266848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500106" cy="2668524"/>
            </a:xfrm>
            <a:custGeom>
              <a:avLst/>
              <a:gdLst/>
              <a:ahLst/>
              <a:cxnLst/>
              <a:rect r="r" b="b" t="t" l="l"/>
              <a:pathLst>
                <a:path h="2668524" w="10500106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lnTo>
                    <a:pt x="10189210" y="0"/>
                  </a:lnTo>
                  <a:cubicBezTo>
                    <a:pt x="10360914" y="0"/>
                    <a:pt x="10500106" y="139192"/>
                    <a:pt x="10500106" y="310896"/>
                  </a:cubicBezTo>
                  <a:lnTo>
                    <a:pt x="10500106" y="2357628"/>
                  </a:lnTo>
                  <a:cubicBezTo>
                    <a:pt x="10500106" y="2529332"/>
                    <a:pt x="10360914" y="2668524"/>
                    <a:pt x="10189210" y="2668524"/>
                  </a:cubicBezTo>
                  <a:lnTo>
                    <a:pt x="310896" y="2668524"/>
                  </a:lnTo>
                  <a:cubicBezTo>
                    <a:pt x="139192" y="2668524"/>
                    <a:pt x="0" y="2529332"/>
                    <a:pt x="0" y="2357628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276864" y="3486055"/>
            <a:ext cx="7278738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Continuous Influx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76864" y="4057593"/>
            <a:ext cx="7278738" cy="84297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Requests arrive continuously while servers carry different workloads and capacities.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978694" y="5399980"/>
            <a:ext cx="7875099" cy="1613221"/>
            <a:chOff x="0" y="0"/>
            <a:chExt cx="10500131" cy="2150961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0500106" cy="2150872"/>
            </a:xfrm>
            <a:custGeom>
              <a:avLst/>
              <a:gdLst/>
              <a:ahLst/>
              <a:cxnLst/>
              <a:rect r="r" b="b" t="t" l="l"/>
              <a:pathLst>
                <a:path h="2150872" w="10500106">
                  <a:moveTo>
                    <a:pt x="0" y="311912"/>
                  </a:moveTo>
                  <a:cubicBezTo>
                    <a:pt x="0" y="139700"/>
                    <a:pt x="139700" y="0"/>
                    <a:pt x="311912" y="0"/>
                  </a:cubicBezTo>
                  <a:lnTo>
                    <a:pt x="10188194" y="0"/>
                  </a:lnTo>
                  <a:cubicBezTo>
                    <a:pt x="10360533" y="0"/>
                    <a:pt x="10500106" y="139700"/>
                    <a:pt x="10500106" y="311912"/>
                  </a:cubicBezTo>
                  <a:lnTo>
                    <a:pt x="10500106" y="1838960"/>
                  </a:lnTo>
                  <a:cubicBezTo>
                    <a:pt x="10500106" y="2011299"/>
                    <a:pt x="10360406" y="2150872"/>
                    <a:pt x="10188194" y="2150872"/>
                  </a:cubicBezTo>
                  <a:lnTo>
                    <a:pt x="311912" y="2150872"/>
                  </a:lnTo>
                  <a:cubicBezTo>
                    <a:pt x="139700" y="2150999"/>
                    <a:pt x="0" y="2011299"/>
                    <a:pt x="0" y="1838960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1276864" y="5688644"/>
            <a:ext cx="7278738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Hidden Bottlenecks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76864" y="6260192"/>
            <a:ext cx="7278738" cy="454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A short queue can still hide a capacity bottleneck.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78694" y="7214425"/>
            <a:ext cx="7875099" cy="1613221"/>
            <a:chOff x="0" y="0"/>
            <a:chExt cx="10500131" cy="2150961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0500106" cy="2150872"/>
            </a:xfrm>
            <a:custGeom>
              <a:avLst/>
              <a:gdLst/>
              <a:ahLst/>
              <a:cxnLst/>
              <a:rect r="r" b="b" t="t" l="l"/>
              <a:pathLst>
                <a:path h="2150872" w="10500106">
                  <a:moveTo>
                    <a:pt x="0" y="311912"/>
                  </a:moveTo>
                  <a:cubicBezTo>
                    <a:pt x="0" y="139700"/>
                    <a:pt x="139700" y="0"/>
                    <a:pt x="311912" y="0"/>
                  </a:cubicBezTo>
                  <a:lnTo>
                    <a:pt x="10188194" y="0"/>
                  </a:lnTo>
                  <a:cubicBezTo>
                    <a:pt x="10360533" y="0"/>
                    <a:pt x="10500106" y="139700"/>
                    <a:pt x="10500106" y="311912"/>
                  </a:cubicBezTo>
                  <a:lnTo>
                    <a:pt x="10500106" y="1838960"/>
                  </a:lnTo>
                  <a:cubicBezTo>
                    <a:pt x="10500106" y="2011299"/>
                    <a:pt x="10360406" y="2150872"/>
                    <a:pt x="10188194" y="2150872"/>
                  </a:cubicBezTo>
                  <a:lnTo>
                    <a:pt x="311912" y="2150872"/>
                  </a:lnTo>
                  <a:cubicBezTo>
                    <a:pt x="139700" y="2150999"/>
                    <a:pt x="0" y="2011299"/>
                    <a:pt x="0" y="1838960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1276864" y="7503090"/>
            <a:ext cx="7278738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Cascading Delays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276864" y="8074628"/>
            <a:ext cx="7278738" cy="454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74"/>
              </a:lnSpc>
            </a:pPr>
            <a:r>
              <a:rPr lang="en-US" sz="1951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A poor routing choice increases waiting time and queue buildup.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471889" y="3173416"/>
            <a:ext cx="7846495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What matters in distributed routing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9457592" y="3826088"/>
            <a:ext cx="3836860" cy="1991087"/>
            <a:chOff x="0" y="0"/>
            <a:chExt cx="5115814" cy="2654783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5115814" cy="2654808"/>
            </a:xfrm>
            <a:custGeom>
              <a:avLst/>
              <a:gdLst/>
              <a:ahLst/>
              <a:cxnLst/>
              <a:rect r="r" b="b" t="t" l="l"/>
              <a:pathLst>
                <a:path h="2654808" w="5115814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lnTo>
                    <a:pt x="4804918" y="0"/>
                  </a:lnTo>
                  <a:cubicBezTo>
                    <a:pt x="4976622" y="0"/>
                    <a:pt x="5115814" y="139192"/>
                    <a:pt x="5115814" y="310896"/>
                  </a:cubicBezTo>
                  <a:lnTo>
                    <a:pt x="5115814" y="2343912"/>
                  </a:lnTo>
                  <a:cubicBezTo>
                    <a:pt x="5115814" y="2515616"/>
                    <a:pt x="4976622" y="2654808"/>
                    <a:pt x="4804918" y="2654808"/>
                  </a:cubicBezTo>
                  <a:lnTo>
                    <a:pt x="310896" y="2654808"/>
                  </a:lnTo>
                  <a:cubicBezTo>
                    <a:pt x="139192" y="2654808"/>
                    <a:pt x="0" y="2515616"/>
                    <a:pt x="0" y="2343912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23" id="23"/>
          <p:cNvGrpSpPr/>
          <p:nvPr/>
        </p:nvGrpSpPr>
        <p:grpSpPr>
          <a:xfrm rot="0">
            <a:off x="9755772" y="4124268"/>
            <a:ext cx="766000" cy="766020"/>
            <a:chOff x="0" y="0"/>
            <a:chExt cx="1021334" cy="1021359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21334" cy="1021334"/>
            </a:xfrm>
            <a:custGeom>
              <a:avLst/>
              <a:gdLst/>
              <a:ahLst/>
              <a:cxnLst/>
              <a:rect r="r" b="b" t="t" l="l"/>
              <a:pathLst>
                <a:path h="1021334" w="1021334">
                  <a:moveTo>
                    <a:pt x="0" y="510667"/>
                  </a:moveTo>
                  <a:cubicBezTo>
                    <a:pt x="0" y="228600"/>
                    <a:pt x="228600" y="0"/>
                    <a:pt x="510667" y="0"/>
                  </a:cubicBezTo>
                  <a:cubicBezTo>
                    <a:pt x="792734" y="0"/>
                    <a:pt x="1021334" y="228600"/>
                    <a:pt x="1021334" y="510667"/>
                  </a:cubicBezTo>
                  <a:cubicBezTo>
                    <a:pt x="1021334" y="792734"/>
                    <a:pt x="792734" y="1021334"/>
                    <a:pt x="510667" y="1021334"/>
                  </a:cubicBezTo>
                  <a:cubicBezTo>
                    <a:pt x="228600" y="1021334"/>
                    <a:pt x="0" y="792734"/>
                    <a:pt x="0" y="510667"/>
                  </a:cubicBezTo>
                  <a:close/>
                </a:path>
              </a:pathLst>
            </a:custGeom>
            <a:solidFill>
              <a:srgbClr val="FC8337"/>
            </a:solidFill>
          </p:spPr>
        </p:sp>
      </p:grpSp>
      <p:sp>
        <p:nvSpPr>
          <p:cNvPr name="Freeform 25" id="25" descr="preencoded.png"/>
          <p:cNvSpPr/>
          <p:nvPr/>
        </p:nvSpPr>
        <p:spPr>
          <a:xfrm flipH="false" flipV="false" rot="0">
            <a:off x="9966369" y="4334885"/>
            <a:ext cx="344653" cy="344653"/>
          </a:xfrm>
          <a:custGeom>
            <a:avLst/>
            <a:gdLst/>
            <a:ahLst/>
            <a:cxnLst/>
            <a:rect r="r" b="b" t="t" l="l"/>
            <a:pathLst>
              <a:path h="344653" w="344653">
                <a:moveTo>
                  <a:pt x="0" y="0"/>
                </a:moveTo>
                <a:lnTo>
                  <a:pt x="344653" y="0"/>
                </a:lnTo>
                <a:lnTo>
                  <a:pt x="344653" y="344652"/>
                </a:lnTo>
                <a:lnTo>
                  <a:pt x="0" y="344652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-31080" r="0" b="-31080"/>
            </a:stretch>
          </a:blipFill>
        </p:spPr>
      </p:sp>
      <p:sp>
        <p:nvSpPr>
          <p:cNvPr name="TextBox 26" id="26"/>
          <p:cNvSpPr txBox="true"/>
          <p:nvPr/>
        </p:nvSpPr>
        <p:spPr>
          <a:xfrm rot="0">
            <a:off x="9755772" y="5110591"/>
            <a:ext cx="3240500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Fast selection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13495668" y="3826088"/>
            <a:ext cx="3837013" cy="1991087"/>
            <a:chOff x="0" y="0"/>
            <a:chExt cx="5116017" cy="2654783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5116068" cy="2654808"/>
            </a:xfrm>
            <a:custGeom>
              <a:avLst/>
              <a:gdLst/>
              <a:ahLst/>
              <a:cxnLst/>
              <a:rect r="r" b="b" t="t" l="l"/>
              <a:pathLst>
                <a:path h="2654808" w="5116068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lnTo>
                    <a:pt x="4805172" y="0"/>
                  </a:lnTo>
                  <a:cubicBezTo>
                    <a:pt x="4976876" y="0"/>
                    <a:pt x="5116068" y="139192"/>
                    <a:pt x="5116068" y="310896"/>
                  </a:cubicBezTo>
                  <a:lnTo>
                    <a:pt x="5116068" y="2343912"/>
                  </a:lnTo>
                  <a:cubicBezTo>
                    <a:pt x="5116068" y="2515616"/>
                    <a:pt x="4976876" y="2654808"/>
                    <a:pt x="4805172" y="2654808"/>
                  </a:cubicBezTo>
                  <a:lnTo>
                    <a:pt x="310896" y="2654808"/>
                  </a:lnTo>
                  <a:cubicBezTo>
                    <a:pt x="139192" y="2654808"/>
                    <a:pt x="0" y="2515616"/>
                    <a:pt x="0" y="2343912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29" id="29"/>
          <p:cNvGrpSpPr/>
          <p:nvPr/>
        </p:nvGrpSpPr>
        <p:grpSpPr>
          <a:xfrm rot="0">
            <a:off x="13793848" y="4124268"/>
            <a:ext cx="766000" cy="766020"/>
            <a:chOff x="0" y="0"/>
            <a:chExt cx="1021334" cy="1021359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21334" cy="1021334"/>
            </a:xfrm>
            <a:custGeom>
              <a:avLst/>
              <a:gdLst/>
              <a:ahLst/>
              <a:cxnLst/>
              <a:rect r="r" b="b" t="t" l="l"/>
              <a:pathLst>
                <a:path h="1021334" w="1021334">
                  <a:moveTo>
                    <a:pt x="0" y="510667"/>
                  </a:moveTo>
                  <a:cubicBezTo>
                    <a:pt x="0" y="228600"/>
                    <a:pt x="228600" y="0"/>
                    <a:pt x="510667" y="0"/>
                  </a:cubicBezTo>
                  <a:cubicBezTo>
                    <a:pt x="792734" y="0"/>
                    <a:pt x="1021334" y="228600"/>
                    <a:pt x="1021334" y="510667"/>
                  </a:cubicBezTo>
                  <a:cubicBezTo>
                    <a:pt x="1021334" y="792734"/>
                    <a:pt x="792734" y="1021334"/>
                    <a:pt x="510667" y="1021334"/>
                  </a:cubicBezTo>
                  <a:cubicBezTo>
                    <a:pt x="228600" y="1021334"/>
                    <a:pt x="0" y="792734"/>
                    <a:pt x="0" y="510667"/>
                  </a:cubicBezTo>
                  <a:close/>
                </a:path>
              </a:pathLst>
            </a:custGeom>
            <a:solidFill>
              <a:srgbClr val="FC8337"/>
            </a:solidFill>
          </p:spPr>
        </p:sp>
      </p:grpSp>
      <p:sp>
        <p:nvSpPr>
          <p:cNvPr name="Freeform 31" id="31" descr="preencoded.png"/>
          <p:cNvSpPr/>
          <p:nvPr/>
        </p:nvSpPr>
        <p:spPr>
          <a:xfrm flipH="false" flipV="false" rot="0">
            <a:off x="14004455" y="4334885"/>
            <a:ext cx="344653" cy="344653"/>
          </a:xfrm>
          <a:custGeom>
            <a:avLst/>
            <a:gdLst/>
            <a:ahLst/>
            <a:cxnLst/>
            <a:rect r="r" b="b" t="t" l="l"/>
            <a:pathLst>
              <a:path h="344653" w="344653">
                <a:moveTo>
                  <a:pt x="0" y="0"/>
                </a:moveTo>
                <a:lnTo>
                  <a:pt x="344653" y="0"/>
                </a:lnTo>
                <a:lnTo>
                  <a:pt x="344653" y="344652"/>
                </a:lnTo>
                <a:lnTo>
                  <a:pt x="0" y="3446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18917" r="0" b="-18919"/>
            </a:stretch>
          </a:blipFill>
        </p:spPr>
      </p:sp>
      <p:sp>
        <p:nvSpPr>
          <p:cNvPr name="TextBox 32" id="32"/>
          <p:cNvSpPr txBox="true"/>
          <p:nvPr/>
        </p:nvSpPr>
        <p:spPr>
          <a:xfrm rot="0">
            <a:off x="13793848" y="5110591"/>
            <a:ext cx="3240653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Capacity awareness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9457592" y="6018400"/>
            <a:ext cx="3836860" cy="1991087"/>
            <a:chOff x="0" y="0"/>
            <a:chExt cx="5115814" cy="2654783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5115814" cy="2654808"/>
            </a:xfrm>
            <a:custGeom>
              <a:avLst/>
              <a:gdLst/>
              <a:ahLst/>
              <a:cxnLst/>
              <a:rect r="r" b="b" t="t" l="l"/>
              <a:pathLst>
                <a:path h="2654808" w="5115814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lnTo>
                    <a:pt x="4804918" y="0"/>
                  </a:lnTo>
                  <a:cubicBezTo>
                    <a:pt x="4976622" y="0"/>
                    <a:pt x="5115814" y="139192"/>
                    <a:pt x="5115814" y="310896"/>
                  </a:cubicBezTo>
                  <a:lnTo>
                    <a:pt x="5115814" y="2343912"/>
                  </a:lnTo>
                  <a:cubicBezTo>
                    <a:pt x="5115814" y="2515616"/>
                    <a:pt x="4976622" y="2654808"/>
                    <a:pt x="4804918" y="2654808"/>
                  </a:cubicBezTo>
                  <a:lnTo>
                    <a:pt x="310896" y="2654808"/>
                  </a:lnTo>
                  <a:cubicBezTo>
                    <a:pt x="139192" y="2654808"/>
                    <a:pt x="0" y="2515616"/>
                    <a:pt x="0" y="2343912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9755772" y="6316589"/>
            <a:ext cx="766000" cy="766020"/>
            <a:chOff x="0" y="0"/>
            <a:chExt cx="1021334" cy="1021359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021334" cy="1021334"/>
            </a:xfrm>
            <a:custGeom>
              <a:avLst/>
              <a:gdLst/>
              <a:ahLst/>
              <a:cxnLst/>
              <a:rect r="r" b="b" t="t" l="l"/>
              <a:pathLst>
                <a:path h="1021334" w="1021334">
                  <a:moveTo>
                    <a:pt x="0" y="510667"/>
                  </a:moveTo>
                  <a:cubicBezTo>
                    <a:pt x="0" y="228600"/>
                    <a:pt x="228600" y="0"/>
                    <a:pt x="510667" y="0"/>
                  </a:cubicBezTo>
                  <a:cubicBezTo>
                    <a:pt x="792734" y="0"/>
                    <a:pt x="1021334" y="228600"/>
                    <a:pt x="1021334" y="510667"/>
                  </a:cubicBezTo>
                  <a:cubicBezTo>
                    <a:pt x="1021334" y="792734"/>
                    <a:pt x="792734" y="1021334"/>
                    <a:pt x="510667" y="1021334"/>
                  </a:cubicBezTo>
                  <a:cubicBezTo>
                    <a:pt x="228600" y="1021334"/>
                    <a:pt x="0" y="792734"/>
                    <a:pt x="0" y="510667"/>
                  </a:cubicBezTo>
                  <a:close/>
                </a:path>
              </a:pathLst>
            </a:custGeom>
            <a:solidFill>
              <a:srgbClr val="FC8337"/>
            </a:solidFill>
          </p:spPr>
        </p:sp>
      </p:grpSp>
      <p:sp>
        <p:nvSpPr>
          <p:cNvPr name="Freeform 37" id="37" descr="preencoded.png"/>
          <p:cNvSpPr/>
          <p:nvPr/>
        </p:nvSpPr>
        <p:spPr>
          <a:xfrm flipH="false" flipV="false" rot="0">
            <a:off x="9966369" y="6527197"/>
            <a:ext cx="344653" cy="344653"/>
          </a:xfrm>
          <a:custGeom>
            <a:avLst/>
            <a:gdLst/>
            <a:ahLst/>
            <a:cxnLst/>
            <a:rect r="r" b="b" t="t" l="l"/>
            <a:pathLst>
              <a:path h="344653" w="344653">
                <a:moveTo>
                  <a:pt x="0" y="0"/>
                </a:moveTo>
                <a:lnTo>
                  <a:pt x="344653" y="0"/>
                </a:lnTo>
                <a:lnTo>
                  <a:pt x="344653" y="344652"/>
                </a:lnTo>
                <a:lnTo>
                  <a:pt x="0" y="34465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-1" t="0" r="1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9755772" y="7302903"/>
            <a:ext cx="3240500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Predictable handling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13495668" y="6018400"/>
            <a:ext cx="3837013" cy="1991087"/>
            <a:chOff x="0" y="0"/>
            <a:chExt cx="5116017" cy="265478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5116068" cy="2654808"/>
            </a:xfrm>
            <a:custGeom>
              <a:avLst/>
              <a:gdLst/>
              <a:ahLst/>
              <a:cxnLst/>
              <a:rect r="r" b="b" t="t" l="l"/>
              <a:pathLst>
                <a:path h="2654808" w="5116068">
                  <a:moveTo>
                    <a:pt x="0" y="310896"/>
                  </a:moveTo>
                  <a:cubicBezTo>
                    <a:pt x="0" y="139192"/>
                    <a:pt x="139192" y="0"/>
                    <a:pt x="310896" y="0"/>
                  </a:cubicBezTo>
                  <a:lnTo>
                    <a:pt x="4805172" y="0"/>
                  </a:lnTo>
                  <a:cubicBezTo>
                    <a:pt x="4976876" y="0"/>
                    <a:pt x="5116068" y="139192"/>
                    <a:pt x="5116068" y="310896"/>
                  </a:cubicBezTo>
                  <a:lnTo>
                    <a:pt x="5116068" y="2343912"/>
                  </a:lnTo>
                  <a:cubicBezTo>
                    <a:pt x="5116068" y="2515616"/>
                    <a:pt x="4976876" y="2654808"/>
                    <a:pt x="4805172" y="2654808"/>
                  </a:cubicBezTo>
                  <a:lnTo>
                    <a:pt x="310896" y="2654808"/>
                  </a:lnTo>
                  <a:cubicBezTo>
                    <a:pt x="139192" y="2654808"/>
                    <a:pt x="0" y="2515616"/>
                    <a:pt x="0" y="2343912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13793848" y="6316589"/>
            <a:ext cx="766000" cy="766020"/>
            <a:chOff x="0" y="0"/>
            <a:chExt cx="1021334" cy="1021359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021334" cy="1021334"/>
            </a:xfrm>
            <a:custGeom>
              <a:avLst/>
              <a:gdLst/>
              <a:ahLst/>
              <a:cxnLst/>
              <a:rect r="r" b="b" t="t" l="l"/>
              <a:pathLst>
                <a:path h="1021334" w="1021334">
                  <a:moveTo>
                    <a:pt x="0" y="510667"/>
                  </a:moveTo>
                  <a:cubicBezTo>
                    <a:pt x="0" y="228600"/>
                    <a:pt x="228600" y="0"/>
                    <a:pt x="510667" y="0"/>
                  </a:cubicBezTo>
                  <a:cubicBezTo>
                    <a:pt x="792734" y="0"/>
                    <a:pt x="1021334" y="228600"/>
                    <a:pt x="1021334" y="510667"/>
                  </a:cubicBezTo>
                  <a:cubicBezTo>
                    <a:pt x="1021334" y="792734"/>
                    <a:pt x="792734" y="1021334"/>
                    <a:pt x="510667" y="1021334"/>
                  </a:cubicBezTo>
                  <a:cubicBezTo>
                    <a:pt x="228600" y="1021334"/>
                    <a:pt x="0" y="792734"/>
                    <a:pt x="0" y="510667"/>
                  </a:cubicBezTo>
                  <a:close/>
                </a:path>
              </a:pathLst>
            </a:custGeom>
            <a:solidFill>
              <a:srgbClr val="FC8337"/>
            </a:solidFill>
          </p:spPr>
        </p:sp>
      </p:grpSp>
      <p:sp>
        <p:nvSpPr>
          <p:cNvPr name="Freeform 43" id="43" descr="preencoded.png"/>
          <p:cNvSpPr/>
          <p:nvPr/>
        </p:nvSpPr>
        <p:spPr>
          <a:xfrm flipH="false" flipV="false" rot="0">
            <a:off x="14004455" y="6527197"/>
            <a:ext cx="344653" cy="344653"/>
          </a:xfrm>
          <a:custGeom>
            <a:avLst/>
            <a:gdLst/>
            <a:ahLst/>
            <a:cxnLst/>
            <a:rect r="r" b="b" t="t" l="l"/>
            <a:pathLst>
              <a:path h="344653" w="344653">
                <a:moveTo>
                  <a:pt x="0" y="0"/>
                </a:moveTo>
                <a:lnTo>
                  <a:pt x="344653" y="0"/>
                </a:lnTo>
                <a:lnTo>
                  <a:pt x="344653" y="344652"/>
                </a:lnTo>
                <a:lnTo>
                  <a:pt x="0" y="344652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-10811" t="0" r="-10811" b="0"/>
            </a:stretch>
          </a:blipFill>
        </p:spPr>
      </p:sp>
      <p:sp>
        <p:nvSpPr>
          <p:cNvPr name="TextBox 44" id="44"/>
          <p:cNvSpPr txBox="true"/>
          <p:nvPr/>
        </p:nvSpPr>
        <p:spPr>
          <a:xfrm rot="0">
            <a:off x="13793848" y="7302903"/>
            <a:ext cx="3240653" cy="4083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091"/>
              </a:lnSpc>
            </a:pPr>
            <a:r>
              <a:rPr lang="en-US" sz="24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Balanced utilization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1756848"/>
            <a:ext cx="17230954" cy="429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5"/>
              </a:lnSpc>
            </a:pPr>
            <a:r>
              <a:rPr lang="en-US" sz="1726" spc="106">
                <a:solidFill>
                  <a:srgbClr val="FC8337"/>
                </a:solidFill>
                <a:latin typeface="Roboto"/>
                <a:ea typeface="Roboto"/>
                <a:cs typeface="Roboto"/>
                <a:sym typeface="Roboto"/>
              </a:rPr>
              <a:t>ROUTING ARCHITECTURE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991" y="2451344"/>
            <a:ext cx="16315868" cy="72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Our innovation: score every feasible server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991" y="3519478"/>
            <a:ext cx="17230954" cy="53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For each incoming request, evaluate the live server state and make the best feasible local choice.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78694" y="4364069"/>
            <a:ext cx="16344462" cy="2628719"/>
            <a:chOff x="0" y="0"/>
            <a:chExt cx="21792616" cy="35049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21792692" cy="3504946"/>
            </a:xfrm>
            <a:custGeom>
              <a:avLst/>
              <a:gdLst/>
              <a:ahLst/>
              <a:cxnLst/>
              <a:rect r="r" b="b" t="t" l="l"/>
              <a:pathLst>
                <a:path h="3504946" w="21792692">
                  <a:moveTo>
                    <a:pt x="0" y="344297"/>
                  </a:moveTo>
                  <a:cubicBezTo>
                    <a:pt x="0" y="154178"/>
                    <a:pt x="154178" y="0"/>
                    <a:pt x="344297" y="0"/>
                  </a:cubicBezTo>
                  <a:lnTo>
                    <a:pt x="21448395" y="0"/>
                  </a:lnTo>
                  <a:cubicBezTo>
                    <a:pt x="21638513" y="0"/>
                    <a:pt x="21792692" y="154178"/>
                    <a:pt x="21792692" y="344297"/>
                  </a:cubicBezTo>
                  <a:lnTo>
                    <a:pt x="21792692" y="3160649"/>
                  </a:lnTo>
                  <a:cubicBezTo>
                    <a:pt x="21792692" y="3350768"/>
                    <a:pt x="21638513" y="3504946"/>
                    <a:pt x="21448395" y="3504946"/>
                  </a:cubicBezTo>
                  <a:lnTo>
                    <a:pt x="344297" y="3504946"/>
                  </a:lnTo>
                  <a:cubicBezTo>
                    <a:pt x="154178" y="3504946"/>
                    <a:pt x="0" y="3350895"/>
                    <a:pt x="0" y="3160649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021585" y="4406970"/>
            <a:ext cx="5419506" cy="2542927"/>
            <a:chOff x="0" y="0"/>
            <a:chExt cx="7226008" cy="339057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7226046" cy="3390519"/>
            </a:xfrm>
            <a:custGeom>
              <a:avLst/>
              <a:gdLst/>
              <a:ahLst/>
              <a:cxnLst/>
              <a:rect r="r" b="b" t="t" l="l"/>
              <a:pathLst>
                <a:path h="3390519" w="7226046">
                  <a:moveTo>
                    <a:pt x="283718" y="0"/>
                  </a:moveTo>
                  <a:lnTo>
                    <a:pt x="7226046" y="0"/>
                  </a:lnTo>
                  <a:lnTo>
                    <a:pt x="7226046" y="3390519"/>
                  </a:lnTo>
                  <a:lnTo>
                    <a:pt x="283718" y="3390519"/>
                  </a:lnTo>
                  <a:cubicBezTo>
                    <a:pt x="127000" y="3390519"/>
                    <a:pt x="0" y="3263519"/>
                    <a:pt x="0" y="3106801"/>
                  </a:cubicBezTo>
                  <a:lnTo>
                    <a:pt x="0" y="283718"/>
                  </a:lnTo>
                  <a:cubicBezTo>
                    <a:pt x="0" y="127000"/>
                    <a:pt x="127000" y="0"/>
                    <a:pt x="283718" y="0"/>
                  </a:cubicBezTo>
                  <a:close/>
                </a:path>
              </a:pathLst>
            </a:custGeom>
            <a:solidFill>
              <a:srgbClr val="030303"/>
            </a:solidFill>
          </p:spPr>
        </p:sp>
      </p:grpSp>
      <p:sp>
        <p:nvSpPr>
          <p:cNvPr name="TextBox 13" id="13"/>
          <p:cNvSpPr txBox="true"/>
          <p:nvPr/>
        </p:nvSpPr>
        <p:spPr>
          <a:xfrm rot="0">
            <a:off x="1305316" y="4681185"/>
            <a:ext cx="4426515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Priority Queue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305316" y="5218490"/>
            <a:ext cx="4426515" cy="993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Keeps candidate servers ordered by routing priority dynamically.</a:t>
            </a:r>
          </a:p>
        </p:txBody>
      </p:sp>
      <p:grpSp>
        <p:nvGrpSpPr>
          <p:cNvPr name="Group 15" id="15"/>
          <p:cNvGrpSpPr/>
          <p:nvPr/>
        </p:nvGrpSpPr>
        <p:grpSpPr>
          <a:xfrm rot="0">
            <a:off x="6441091" y="4406970"/>
            <a:ext cx="5419506" cy="2542927"/>
            <a:chOff x="0" y="0"/>
            <a:chExt cx="7226008" cy="339057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7226046" cy="3390519"/>
            </a:xfrm>
            <a:custGeom>
              <a:avLst/>
              <a:gdLst/>
              <a:ahLst/>
              <a:cxnLst/>
              <a:rect r="r" b="b" t="t" l="l"/>
              <a:pathLst>
                <a:path h="3390519" w="7226046">
                  <a:moveTo>
                    <a:pt x="0" y="0"/>
                  </a:moveTo>
                  <a:lnTo>
                    <a:pt x="7226046" y="0"/>
                  </a:lnTo>
                  <a:lnTo>
                    <a:pt x="7226046" y="3390519"/>
                  </a:lnTo>
                  <a:lnTo>
                    <a:pt x="0" y="3390519"/>
                  </a:lnTo>
                  <a:close/>
                </a:path>
              </a:pathLst>
            </a:custGeom>
            <a:solidFill>
              <a:srgbClr val="030303"/>
            </a:solidFill>
          </p:spPr>
        </p:sp>
      </p:grpSp>
      <p:grpSp>
        <p:nvGrpSpPr>
          <p:cNvPr name="Group 17" id="17"/>
          <p:cNvGrpSpPr/>
          <p:nvPr/>
        </p:nvGrpSpPr>
        <p:grpSpPr>
          <a:xfrm rot="0">
            <a:off x="6441091" y="4406970"/>
            <a:ext cx="38129" cy="2542927"/>
            <a:chOff x="0" y="0"/>
            <a:chExt cx="50838" cy="339057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50800" cy="3390519"/>
            </a:xfrm>
            <a:custGeom>
              <a:avLst/>
              <a:gdLst/>
              <a:ahLst/>
              <a:cxnLst/>
              <a:rect r="r" b="b" t="t" l="l"/>
              <a:pathLst>
                <a:path h="3390519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3365119"/>
                  </a:lnTo>
                  <a:cubicBezTo>
                    <a:pt x="50800" y="3379216"/>
                    <a:pt x="39370" y="3390519"/>
                    <a:pt x="25400" y="3390519"/>
                  </a:cubicBezTo>
                  <a:cubicBezTo>
                    <a:pt x="11430" y="3390519"/>
                    <a:pt x="0" y="3379089"/>
                    <a:pt x="0" y="3365119"/>
                  </a:cubicBezTo>
                  <a:close/>
                </a:path>
              </a:pathLst>
            </a:custGeom>
            <a:solidFill>
              <a:srgbClr val="E2691D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7150351" y="4681185"/>
            <a:ext cx="4000995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Greedy selection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7150351" y="5218490"/>
            <a:ext cx="4000995" cy="1447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Chooses the strongest available candidate node immediately.</a:t>
            </a:r>
          </a:p>
        </p:txBody>
      </p:sp>
      <p:grpSp>
        <p:nvGrpSpPr>
          <p:cNvPr name="Group 21" id="21"/>
          <p:cNvGrpSpPr/>
          <p:nvPr/>
        </p:nvGrpSpPr>
        <p:grpSpPr>
          <a:xfrm rot="0">
            <a:off x="11860597" y="4406970"/>
            <a:ext cx="5419658" cy="2542927"/>
            <a:chOff x="0" y="0"/>
            <a:chExt cx="7226211" cy="339057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7226174" cy="3390519"/>
            </a:xfrm>
            <a:custGeom>
              <a:avLst/>
              <a:gdLst/>
              <a:ahLst/>
              <a:cxnLst/>
              <a:rect r="r" b="b" t="t" l="l"/>
              <a:pathLst>
                <a:path h="3390519" w="7226174">
                  <a:moveTo>
                    <a:pt x="0" y="0"/>
                  </a:moveTo>
                  <a:lnTo>
                    <a:pt x="6942455" y="0"/>
                  </a:lnTo>
                  <a:cubicBezTo>
                    <a:pt x="7099174" y="0"/>
                    <a:pt x="7226174" y="127000"/>
                    <a:pt x="7226174" y="283718"/>
                  </a:cubicBezTo>
                  <a:lnTo>
                    <a:pt x="7226174" y="3106801"/>
                  </a:lnTo>
                  <a:cubicBezTo>
                    <a:pt x="7226174" y="3263519"/>
                    <a:pt x="7099174" y="3390519"/>
                    <a:pt x="6942455" y="3390519"/>
                  </a:cubicBezTo>
                  <a:lnTo>
                    <a:pt x="0" y="33905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30303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1860597" y="4406970"/>
            <a:ext cx="38129" cy="2542927"/>
            <a:chOff x="0" y="0"/>
            <a:chExt cx="50838" cy="33905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50800" cy="3390519"/>
            </a:xfrm>
            <a:custGeom>
              <a:avLst/>
              <a:gdLst/>
              <a:ahLst/>
              <a:cxnLst/>
              <a:rect r="r" b="b" t="t" l="l"/>
              <a:pathLst>
                <a:path h="3390519" w="50800">
                  <a:moveTo>
                    <a:pt x="0" y="25400"/>
                  </a:moveTo>
                  <a:cubicBezTo>
                    <a:pt x="0" y="11430"/>
                    <a:pt x="11430" y="0"/>
                    <a:pt x="25400" y="0"/>
                  </a:cubicBezTo>
                  <a:cubicBezTo>
                    <a:pt x="39370" y="0"/>
                    <a:pt x="50800" y="11430"/>
                    <a:pt x="50800" y="25400"/>
                  </a:cubicBezTo>
                  <a:lnTo>
                    <a:pt x="50800" y="3365119"/>
                  </a:lnTo>
                  <a:cubicBezTo>
                    <a:pt x="50800" y="3379216"/>
                    <a:pt x="39370" y="3390519"/>
                    <a:pt x="25400" y="3390519"/>
                  </a:cubicBezTo>
                  <a:cubicBezTo>
                    <a:pt x="11430" y="3390519"/>
                    <a:pt x="0" y="3379089"/>
                    <a:pt x="0" y="3365119"/>
                  </a:cubicBezTo>
                  <a:close/>
                </a:path>
              </a:pathLst>
            </a:custGeom>
            <a:solidFill>
              <a:srgbClr val="E2691D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2569857" y="4681185"/>
            <a:ext cx="4426668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Configurable score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569857" y="5218490"/>
            <a:ext cx="4426668" cy="9936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Evaluates queue load + response cost + capacity penalty.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992991" y="7394505"/>
            <a:ext cx="16315868" cy="4527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65"/>
              </a:lnSpc>
            </a:pPr>
            <a:r>
              <a:rPr lang="en-US" sz="2777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Traditional Load Balancing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992991" y="8187099"/>
            <a:ext cx="17230954" cy="53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74"/>
              </a:lnSpc>
            </a:pPr>
            <a:r>
              <a:rPr lang="en-US" sz="21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Fixed round-robin or random server routing ignores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6067396" y="5304663"/>
            <a:ext cx="747389" cy="747398"/>
            <a:chOff x="0" y="0"/>
            <a:chExt cx="996518" cy="996531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996442" cy="996569"/>
            </a:xfrm>
            <a:custGeom>
              <a:avLst/>
              <a:gdLst/>
              <a:ahLst/>
              <a:cxnLst/>
              <a:rect r="r" b="b" t="t" l="l"/>
              <a:pathLst>
                <a:path h="996569" w="996442">
                  <a:moveTo>
                    <a:pt x="0" y="358775"/>
                  </a:moveTo>
                  <a:cubicBezTo>
                    <a:pt x="0" y="160655"/>
                    <a:pt x="160655" y="0"/>
                    <a:pt x="358775" y="0"/>
                  </a:cubicBezTo>
                  <a:lnTo>
                    <a:pt x="637667" y="0"/>
                  </a:lnTo>
                  <a:cubicBezTo>
                    <a:pt x="835787" y="0"/>
                    <a:pt x="996442" y="160655"/>
                    <a:pt x="996442" y="358775"/>
                  </a:cubicBezTo>
                  <a:lnTo>
                    <a:pt x="996442" y="637794"/>
                  </a:lnTo>
                  <a:cubicBezTo>
                    <a:pt x="996442" y="835914"/>
                    <a:pt x="835787" y="996569"/>
                    <a:pt x="637667" y="996569"/>
                  </a:cubicBezTo>
                  <a:lnTo>
                    <a:pt x="358775" y="996569"/>
                  </a:lnTo>
                  <a:cubicBezTo>
                    <a:pt x="160655" y="996569"/>
                    <a:pt x="0" y="835914"/>
                    <a:pt x="0" y="637794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38128" cap="sq">
              <a:solidFill>
                <a:srgbClr val="E2691D"/>
              </a:solidFill>
              <a:prstDash val="solid"/>
              <a:miter/>
            </a:ln>
          </p:spPr>
        </p:sp>
      </p:grpSp>
      <p:sp>
        <p:nvSpPr>
          <p:cNvPr name="Freeform 31" id="31" descr="preencoded.png"/>
          <p:cNvSpPr/>
          <p:nvPr/>
        </p:nvSpPr>
        <p:spPr>
          <a:xfrm flipH="false" flipV="false" rot="0">
            <a:off x="6263707" y="5500964"/>
            <a:ext cx="354625" cy="354635"/>
          </a:xfrm>
          <a:custGeom>
            <a:avLst/>
            <a:gdLst/>
            <a:ahLst/>
            <a:cxnLst/>
            <a:rect r="r" b="b" t="t" l="l"/>
            <a:pathLst>
              <a:path h="354635" w="354625">
                <a:moveTo>
                  <a:pt x="0" y="0"/>
                </a:moveTo>
                <a:lnTo>
                  <a:pt x="354625" y="0"/>
                </a:lnTo>
                <a:lnTo>
                  <a:pt x="354625" y="354635"/>
                </a:lnTo>
                <a:lnTo>
                  <a:pt x="0" y="35463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1" t="0" r="-1" b="0"/>
            </a:stretch>
          </a:blipFill>
        </p:spPr>
      </p:sp>
      <p:grpSp>
        <p:nvGrpSpPr>
          <p:cNvPr name="Group 32" id="32"/>
          <p:cNvGrpSpPr/>
          <p:nvPr/>
        </p:nvGrpSpPr>
        <p:grpSpPr>
          <a:xfrm rot="0">
            <a:off x="11486912" y="5304663"/>
            <a:ext cx="747389" cy="747398"/>
            <a:chOff x="0" y="0"/>
            <a:chExt cx="996518" cy="996531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996442" cy="996569"/>
            </a:xfrm>
            <a:custGeom>
              <a:avLst/>
              <a:gdLst/>
              <a:ahLst/>
              <a:cxnLst/>
              <a:rect r="r" b="b" t="t" l="l"/>
              <a:pathLst>
                <a:path h="996569" w="996442">
                  <a:moveTo>
                    <a:pt x="0" y="358775"/>
                  </a:moveTo>
                  <a:cubicBezTo>
                    <a:pt x="0" y="160655"/>
                    <a:pt x="160655" y="0"/>
                    <a:pt x="358775" y="0"/>
                  </a:cubicBezTo>
                  <a:lnTo>
                    <a:pt x="637667" y="0"/>
                  </a:lnTo>
                  <a:cubicBezTo>
                    <a:pt x="835787" y="0"/>
                    <a:pt x="996442" y="160655"/>
                    <a:pt x="996442" y="358775"/>
                  </a:cubicBezTo>
                  <a:lnTo>
                    <a:pt x="996442" y="637794"/>
                  </a:lnTo>
                  <a:cubicBezTo>
                    <a:pt x="996442" y="835914"/>
                    <a:pt x="835787" y="996569"/>
                    <a:pt x="637667" y="996569"/>
                  </a:cubicBezTo>
                  <a:lnTo>
                    <a:pt x="358775" y="996569"/>
                  </a:lnTo>
                  <a:cubicBezTo>
                    <a:pt x="160655" y="996569"/>
                    <a:pt x="0" y="835914"/>
                    <a:pt x="0" y="637794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38128" cap="sq">
              <a:solidFill>
                <a:srgbClr val="E2691D"/>
              </a:solidFill>
              <a:prstDash val="solid"/>
              <a:miter/>
            </a:ln>
          </p:spPr>
        </p:sp>
      </p:grpSp>
      <p:sp>
        <p:nvSpPr>
          <p:cNvPr name="Freeform 34" id="34" descr="preencoded.png"/>
          <p:cNvSpPr/>
          <p:nvPr/>
        </p:nvSpPr>
        <p:spPr>
          <a:xfrm flipH="false" flipV="false" rot="0">
            <a:off x="11683213" y="5500964"/>
            <a:ext cx="354625" cy="354635"/>
          </a:xfrm>
          <a:custGeom>
            <a:avLst/>
            <a:gdLst/>
            <a:ahLst/>
            <a:cxnLst/>
            <a:rect r="r" b="b" t="t" l="l"/>
            <a:pathLst>
              <a:path h="354635" w="354625">
                <a:moveTo>
                  <a:pt x="0" y="0"/>
                </a:moveTo>
                <a:lnTo>
                  <a:pt x="354625" y="0"/>
                </a:lnTo>
                <a:lnTo>
                  <a:pt x="354625" y="354635"/>
                </a:lnTo>
                <a:lnTo>
                  <a:pt x="0" y="35463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-9209" r="0" b="-9209"/>
            </a:stretch>
          </a:blipFill>
        </p:spPr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931974"/>
            <a:ext cx="17230954" cy="2994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053"/>
              </a:lnSpc>
            </a:pPr>
            <a:r>
              <a:rPr lang="en-US" sz="1426" spc="85">
                <a:solidFill>
                  <a:srgbClr val="FC8337"/>
                </a:solidFill>
                <a:latin typeface="Roboto"/>
                <a:ea typeface="Roboto"/>
                <a:cs typeface="Roboto"/>
                <a:sym typeface="Roboto"/>
              </a:rPr>
              <a:t>END-TO-END EXECUTION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991" y="1393984"/>
            <a:ext cx="16315868" cy="58653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02"/>
              </a:lnSpc>
            </a:pPr>
            <a:r>
              <a:rPr lang="en-US" sz="3527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System workflow: from request to response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83456" y="3264713"/>
            <a:ext cx="3961828" cy="246059"/>
            <a:chOff x="0" y="0"/>
            <a:chExt cx="5282438" cy="32807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82438" cy="328168"/>
            </a:xfrm>
            <a:custGeom>
              <a:avLst/>
              <a:gdLst/>
              <a:ahLst/>
              <a:cxnLst/>
              <a:rect r="r" b="b" t="t" l="l"/>
              <a:pathLst>
                <a:path h="328168" w="5282438">
                  <a:moveTo>
                    <a:pt x="0" y="164084"/>
                  </a:moveTo>
                  <a:cubicBezTo>
                    <a:pt x="0" y="73406"/>
                    <a:pt x="73406" y="0"/>
                    <a:pt x="164084" y="0"/>
                  </a:cubicBezTo>
                  <a:lnTo>
                    <a:pt x="5118354" y="0"/>
                  </a:lnTo>
                  <a:cubicBezTo>
                    <a:pt x="5208905" y="0"/>
                    <a:pt x="5282438" y="73406"/>
                    <a:pt x="5282438" y="164084"/>
                  </a:cubicBezTo>
                  <a:cubicBezTo>
                    <a:pt x="5282438" y="254635"/>
                    <a:pt x="5209032" y="328168"/>
                    <a:pt x="5118354" y="328168"/>
                  </a:cubicBezTo>
                  <a:lnTo>
                    <a:pt x="164084" y="328168"/>
                  </a:lnTo>
                  <a:cubicBezTo>
                    <a:pt x="73406" y="328041"/>
                    <a:pt x="0" y="254635"/>
                    <a:pt x="0" y="164084"/>
                  </a:cubicBezTo>
                  <a:close/>
                </a:path>
              </a:pathLst>
            </a:custGeom>
            <a:solidFill>
              <a:srgbClr val="030303"/>
            </a:solidFill>
            <a:ln w="19065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219972" y="3663753"/>
            <a:ext cx="3488788" cy="3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1. Client request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19972" y="4108218"/>
            <a:ext cx="3488788" cy="691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Client sends a request to the router.</a:t>
            </a:r>
          </a:p>
        </p:txBody>
      </p:sp>
      <p:grpSp>
        <p:nvGrpSpPr>
          <p:cNvPr name="Group 12" id="12"/>
          <p:cNvGrpSpPr/>
          <p:nvPr/>
        </p:nvGrpSpPr>
        <p:grpSpPr>
          <a:xfrm rot="0">
            <a:off x="5107772" y="2924232"/>
            <a:ext cx="3961828" cy="246059"/>
            <a:chOff x="0" y="0"/>
            <a:chExt cx="5282438" cy="328079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282438" cy="328168"/>
            </a:xfrm>
            <a:custGeom>
              <a:avLst/>
              <a:gdLst/>
              <a:ahLst/>
              <a:cxnLst/>
              <a:rect r="r" b="b" t="t" l="l"/>
              <a:pathLst>
                <a:path h="328168" w="5282438">
                  <a:moveTo>
                    <a:pt x="0" y="164084"/>
                  </a:moveTo>
                  <a:cubicBezTo>
                    <a:pt x="0" y="73406"/>
                    <a:pt x="73406" y="0"/>
                    <a:pt x="164084" y="0"/>
                  </a:cubicBezTo>
                  <a:lnTo>
                    <a:pt x="5118354" y="0"/>
                  </a:lnTo>
                  <a:cubicBezTo>
                    <a:pt x="5208905" y="0"/>
                    <a:pt x="5282438" y="73406"/>
                    <a:pt x="5282438" y="164084"/>
                  </a:cubicBezTo>
                  <a:cubicBezTo>
                    <a:pt x="5282438" y="254635"/>
                    <a:pt x="5209032" y="328168"/>
                    <a:pt x="5118354" y="328168"/>
                  </a:cubicBezTo>
                  <a:lnTo>
                    <a:pt x="164084" y="328168"/>
                  </a:lnTo>
                  <a:cubicBezTo>
                    <a:pt x="73406" y="328041"/>
                    <a:pt x="0" y="254635"/>
                    <a:pt x="0" y="164084"/>
                  </a:cubicBezTo>
                  <a:close/>
                </a:path>
              </a:pathLst>
            </a:custGeom>
            <a:solidFill>
              <a:srgbClr val="030303"/>
            </a:solidFill>
            <a:ln w="19065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4" id="14"/>
          <p:cNvSpPr txBox="true"/>
          <p:nvPr/>
        </p:nvSpPr>
        <p:spPr>
          <a:xfrm rot="0">
            <a:off x="5344297" y="3323263"/>
            <a:ext cx="3488788" cy="3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2. Telemetry read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5344297" y="3767728"/>
            <a:ext cx="3488788" cy="1018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Router reads queue length, capacity, and estimated response cost.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9232097" y="2583742"/>
            <a:ext cx="3961828" cy="246059"/>
            <a:chOff x="0" y="0"/>
            <a:chExt cx="5282438" cy="328079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282438" cy="328168"/>
            </a:xfrm>
            <a:custGeom>
              <a:avLst/>
              <a:gdLst/>
              <a:ahLst/>
              <a:cxnLst/>
              <a:rect r="r" b="b" t="t" l="l"/>
              <a:pathLst>
                <a:path h="328168" w="5282438">
                  <a:moveTo>
                    <a:pt x="0" y="164084"/>
                  </a:moveTo>
                  <a:cubicBezTo>
                    <a:pt x="0" y="73406"/>
                    <a:pt x="73406" y="0"/>
                    <a:pt x="164084" y="0"/>
                  </a:cubicBezTo>
                  <a:lnTo>
                    <a:pt x="5118354" y="0"/>
                  </a:lnTo>
                  <a:cubicBezTo>
                    <a:pt x="5208905" y="0"/>
                    <a:pt x="5282438" y="73406"/>
                    <a:pt x="5282438" y="164084"/>
                  </a:cubicBezTo>
                  <a:cubicBezTo>
                    <a:pt x="5282438" y="254635"/>
                    <a:pt x="5209032" y="328168"/>
                    <a:pt x="5118354" y="328168"/>
                  </a:cubicBezTo>
                  <a:lnTo>
                    <a:pt x="164084" y="328168"/>
                  </a:lnTo>
                  <a:cubicBezTo>
                    <a:pt x="73406" y="328041"/>
                    <a:pt x="0" y="254635"/>
                    <a:pt x="0" y="164084"/>
                  </a:cubicBezTo>
                  <a:close/>
                </a:path>
              </a:pathLst>
            </a:custGeom>
            <a:solidFill>
              <a:srgbClr val="030303"/>
            </a:solidFill>
            <a:ln w="19065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8" id="18"/>
          <p:cNvSpPr txBox="true"/>
          <p:nvPr/>
        </p:nvSpPr>
        <p:spPr>
          <a:xfrm rot="0">
            <a:off x="9468612" y="2982782"/>
            <a:ext cx="3488788" cy="3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3. Priority Queue ranking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468612" y="3427238"/>
            <a:ext cx="3488788" cy="691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Priority Queue ranks the available server candidates.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3356412" y="2243252"/>
            <a:ext cx="3961971" cy="246059"/>
            <a:chOff x="0" y="0"/>
            <a:chExt cx="5282628" cy="328079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282692" cy="328168"/>
            </a:xfrm>
            <a:custGeom>
              <a:avLst/>
              <a:gdLst/>
              <a:ahLst/>
              <a:cxnLst/>
              <a:rect r="r" b="b" t="t" l="l"/>
              <a:pathLst>
                <a:path h="328168" w="5282692">
                  <a:moveTo>
                    <a:pt x="0" y="164084"/>
                  </a:moveTo>
                  <a:cubicBezTo>
                    <a:pt x="0" y="73406"/>
                    <a:pt x="73406" y="0"/>
                    <a:pt x="164084" y="0"/>
                  </a:cubicBezTo>
                  <a:lnTo>
                    <a:pt x="5118608" y="0"/>
                  </a:lnTo>
                  <a:cubicBezTo>
                    <a:pt x="5209159" y="0"/>
                    <a:pt x="5282692" y="73406"/>
                    <a:pt x="5282692" y="164084"/>
                  </a:cubicBezTo>
                  <a:cubicBezTo>
                    <a:pt x="5282692" y="254635"/>
                    <a:pt x="5209286" y="328168"/>
                    <a:pt x="5118608" y="328168"/>
                  </a:cubicBezTo>
                  <a:lnTo>
                    <a:pt x="164084" y="328168"/>
                  </a:lnTo>
                  <a:cubicBezTo>
                    <a:pt x="73406" y="328041"/>
                    <a:pt x="0" y="254635"/>
                    <a:pt x="0" y="164084"/>
                  </a:cubicBezTo>
                  <a:close/>
                </a:path>
              </a:pathLst>
            </a:custGeom>
            <a:solidFill>
              <a:srgbClr val="030303"/>
            </a:solidFill>
            <a:ln w="19065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22" id="22"/>
          <p:cNvSpPr txBox="true"/>
          <p:nvPr/>
        </p:nvSpPr>
        <p:spPr>
          <a:xfrm rot="0">
            <a:off x="13592927" y="2642292"/>
            <a:ext cx="3488941" cy="3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4. Greedy selection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592927" y="3086757"/>
            <a:ext cx="3488941" cy="691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Greedy strategy selects the best feasible server.</a:t>
            </a:r>
          </a:p>
        </p:txBody>
      </p:sp>
      <p:grpSp>
        <p:nvGrpSpPr>
          <p:cNvPr name="Group 24" id="24"/>
          <p:cNvGrpSpPr/>
          <p:nvPr/>
        </p:nvGrpSpPr>
        <p:grpSpPr>
          <a:xfrm rot="0">
            <a:off x="983456" y="6220368"/>
            <a:ext cx="3961828" cy="246059"/>
            <a:chOff x="0" y="0"/>
            <a:chExt cx="5282438" cy="328079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5282438" cy="328168"/>
            </a:xfrm>
            <a:custGeom>
              <a:avLst/>
              <a:gdLst/>
              <a:ahLst/>
              <a:cxnLst/>
              <a:rect r="r" b="b" t="t" l="l"/>
              <a:pathLst>
                <a:path h="328168" w="5282438">
                  <a:moveTo>
                    <a:pt x="0" y="164084"/>
                  </a:moveTo>
                  <a:cubicBezTo>
                    <a:pt x="0" y="73406"/>
                    <a:pt x="73406" y="0"/>
                    <a:pt x="164084" y="0"/>
                  </a:cubicBezTo>
                  <a:lnTo>
                    <a:pt x="5118354" y="0"/>
                  </a:lnTo>
                  <a:cubicBezTo>
                    <a:pt x="5208905" y="0"/>
                    <a:pt x="5282438" y="73406"/>
                    <a:pt x="5282438" y="164084"/>
                  </a:cubicBezTo>
                  <a:cubicBezTo>
                    <a:pt x="5282438" y="254635"/>
                    <a:pt x="5209032" y="328168"/>
                    <a:pt x="5118354" y="328168"/>
                  </a:cubicBezTo>
                  <a:lnTo>
                    <a:pt x="164084" y="328168"/>
                  </a:lnTo>
                  <a:cubicBezTo>
                    <a:pt x="73406" y="328041"/>
                    <a:pt x="0" y="254635"/>
                    <a:pt x="0" y="164084"/>
                  </a:cubicBezTo>
                  <a:close/>
                </a:path>
              </a:pathLst>
            </a:custGeom>
            <a:solidFill>
              <a:srgbClr val="030303"/>
            </a:solidFill>
            <a:ln w="19065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26" id="26"/>
          <p:cNvSpPr txBox="true"/>
          <p:nvPr/>
        </p:nvSpPr>
        <p:spPr>
          <a:xfrm rot="0">
            <a:off x="1219972" y="6619408"/>
            <a:ext cx="3488788" cy="3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5. Assignment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219972" y="7063873"/>
            <a:ext cx="3488788" cy="691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Request is assigned and processed.</a:t>
            </a:r>
          </a:p>
        </p:txBody>
      </p:sp>
      <p:grpSp>
        <p:nvGrpSpPr>
          <p:cNvPr name="Group 28" id="28"/>
          <p:cNvGrpSpPr/>
          <p:nvPr/>
        </p:nvGrpSpPr>
        <p:grpSpPr>
          <a:xfrm rot="0">
            <a:off x="5107772" y="5879878"/>
            <a:ext cx="3961828" cy="246059"/>
            <a:chOff x="0" y="0"/>
            <a:chExt cx="5282438" cy="328079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5282438" cy="328168"/>
            </a:xfrm>
            <a:custGeom>
              <a:avLst/>
              <a:gdLst/>
              <a:ahLst/>
              <a:cxnLst/>
              <a:rect r="r" b="b" t="t" l="l"/>
              <a:pathLst>
                <a:path h="328168" w="5282438">
                  <a:moveTo>
                    <a:pt x="0" y="164084"/>
                  </a:moveTo>
                  <a:cubicBezTo>
                    <a:pt x="0" y="73406"/>
                    <a:pt x="73406" y="0"/>
                    <a:pt x="164084" y="0"/>
                  </a:cubicBezTo>
                  <a:lnTo>
                    <a:pt x="5118354" y="0"/>
                  </a:lnTo>
                  <a:cubicBezTo>
                    <a:pt x="5208905" y="0"/>
                    <a:pt x="5282438" y="73406"/>
                    <a:pt x="5282438" y="164084"/>
                  </a:cubicBezTo>
                  <a:cubicBezTo>
                    <a:pt x="5282438" y="254635"/>
                    <a:pt x="5209032" y="328168"/>
                    <a:pt x="5118354" y="328168"/>
                  </a:cubicBezTo>
                  <a:lnTo>
                    <a:pt x="164084" y="328168"/>
                  </a:lnTo>
                  <a:cubicBezTo>
                    <a:pt x="73406" y="328041"/>
                    <a:pt x="0" y="254635"/>
                    <a:pt x="0" y="164084"/>
                  </a:cubicBezTo>
                  <a:close/>
                </a:path>
              </a:pathLst>
            </a:custGeom>
            <a:solidFill>
              <a:srgbClr val="030303"/>
            </a:solidFill>
            <a:ln w="19065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5344297" y="6278918"/>
            <a:ext cx="3488788" cy="3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6. Statistics update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344297" y="6723383"/>
            <a:ext cx="3488788" cy="6916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Queue and load statistics update for the next decision.</a:t>
            </a:r>
          </a:p>
        </p:txBody>
      </p:sp>
      <p:grpSp>
        <p:nvGrpSpPr>
          <p:cNvPr name="Group 32" id="32"/>
          <p:cNvGrpSpPr/>
          <p:nvPr/>
        </p:nvGrpSpPr>
        <p:grpSpPr>
          <a:xfrm rot="0">
            <a:off x="978694" y="8172440"/>
            <a:ext cx="16344462" cy="1330071"/>
            <a:chOff x="0" y="0"/>
            <a:chExt cx="21792616" cy="1773428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1792566" cy="1773428"/>
            </a:xfrm>
            <a:custGeom>
              <a:avLst/>
              <a:gdLst/>
              <a:ahLst/>
              <a:cxnLst/>
              <a:rect r="r" b="b" t="t" l="l"/>
              <a:pathLst>
                <a:path h="1773428" w="21792566">
                  <a:moveTo>
                    <a:pt x="0" y="278384"/>
                  </a:moveTo>
                  <a:cubicBezTo>
                    <a:pt x="0" y="124587"/>
                    <a:pt x="124587" y="0"/>
                    <a:pt x="278384" y="0"/>
                  </a:cubicBezTo>
                  <a:lnTo>
                    <a:pt x="21514181" y="0"/>
                  </a:lnTo>
                  <a:cubicBezTo>
                    <a:pt x="21667978" y="0"/>
                    <a:pt x="21792566" y="124587"/>
                    <a:pt x="21792566" y="278384"/>
                  </a:cubicBezTo>
                  <a:lnTo>
                    <a:pt x="21792566" y="1495044"/>
                  </a:lnTo>
                  <a:cubicBezTo>
                    <a:pt x="21792566" y="1648841"/>
                    <a:pt x="21667978" y="1773428"/>
                    <a:pt x="21514181" y="1773428"/>
                  </a:cubicBezTo>
                  <a:lnTo>
                    <a:pt x="278384" y="1773428"/>
                  </a:lnTo>
                  <a:cubicBezTo>
                    <a:pt x="124587" y="1773428"/>
                    <a:pt x="0" y="1648841"/>
                    <a:pt x="0" y="1495044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34" id="34"/>
          <p:cNvSpPr txBox="true"/>
          <p:nvPr/>
        </p:nvSpPr>
        <p:spPr>
          <a:xfrm rot="0">
            <a:off x="1248575" y="8423272"/>
            <a:ext cx="15804699" cy="3736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16"/>
              </a:lnSpc>
            </a:pPr>
            <a:r>
              <a:rPr lang="en-US" sz="217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Decision example: R104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248575" y="8867737"/>
            <a:ext cx="15804699" cy="36488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85"/>
              </a:lnSpc>
            </a:pPr>
            <a:r>
              <a:rPr lang="en-US" sz="172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R104 favors a low-cost, low-queue server with enough capacity.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1094784"/>
            <a:ext cx="17230954" cy="3425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15"/>
              </a:lnSpc>
            </a:pPr>
            <a:r>
              <a:rPr lang="en-US" sz="1501" spc="91">
                <a:solidFill>
                  <a:srgbClr val="FC8337"/>
                </a:solidFill>
                <a:latin typeface="Roboto"/>
                <a:ea typeface="Roboto"/>
                <a:cs typeface="Roboto"/>
                <a:sym typeface="Roboto"/>
              </a:rPr>
              <a:t>TECH STACK &amp; COMPLEXITY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991" y="1623212"/>
            <a:ext cx="16315868" cy="6219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683"/>
              </a:lnSpc>
            </a:pPr>
            <a:r>
              <a:rPr lang="en-US" sz="3752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Technology and algorithm engine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992991" y="2748029"/>
            <a:ext cx="7863773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Implementation Stack</a:t>
            </a:r>
          </a:p>
        </p:txBody>
      </p:sp>
      <p:grpSp>
        <p:nvGrpSpPr>
          <p:cNvPr name="Group 9" id="9"/>
          <p:cNvGrpSpPr/>
          <p:nvPr/>
        </p:nvGrpSpPr>
        <p:grpSpPr>
          <a:xfrm rot="0">
            <a:off x="978694" y="3350657"/>
            <a:ext cx="3858016" cy="3148984"/>
            <a:chOff x="0" y="0"/>
            <a:chExt cx="5144021" cy="4198645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5144008" cy="4198747"/>
            </a:xfrm>
            <a:custGeom>
              <a:avLst/>
              <a:gdLst/>
              <a:ahLst/>
              <a:cxnLst/>
              <a:rect r="r" b="b" t="t" l="l"/>
              <a:pathLst>
                <a:path h="4198747" w="5144008">
                  <a:moveTo>
                    <a:pt x="0" y="292100"/>
                  </a:moveTo>
                  <a:cubicBezTo>
                    <a:pt x="0" y="130810"/>
                    <a:pt x="130810" y="0"/>
                    <a:pt x="292100" y="0"/>
                  </a:cubicBezTo>
                  <a:lnTo>
                    <a:pt x="4851908" y="0"/>
                  </a:lnTo>
                  <a:cubicBezTo>
                    <a:pt x="5013198" y="0"/>
                    <a:pt x="5144008" y="130810"/>
                    <a:pt x="5144008" y="292100"/>
                  </a:cubicBezTo>
                  <a:lnTo>
                    <a:pt x="5144008" y="3906647"/>
                  </a:lnTo>
                  <a:cubicBezTo>
                    <a:pt x="5144008" y="4067937"/>
                    <a:pt x="5013198" y="4198747"/>
                    <a:pt x="4851908" y="4198747"/>
                  </a:cubicBezTo>
                  <a:lnTo>
                    <a:pt x="292100" y="4198747"/>
                  </a:lnTo>
                  <a:cubicBezTo>
                    <a:pt x="130810" y="4198747"/>
                    <a:pt x="0" y="4067937"/>
                    <a:pt x="0" y="3906647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262720" y="3634692"/>
            <a:ext cx="723557" cy="723576"/>
            <a:chOff x="0" y="0"/>
            <a:chExt cx="964743" cy="96476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964692" cy="964819"/>
            </a:xfrm>
            <a:custGeom>
              <a:avLst/>
              <a:gdLst/>
              <a:ahLst/>
              <a:cxnLst/>
              <a:rect r="r" b="b" t="t" l="l"/>
              <a:pathLst>
                <a:path h="964819" w="964692">
                  <a:moveTo>
                    <a:pt x="0" y="482346"/>
                  </a:moveTo>
                  <a:cubicBezTo>
                    <a:pt x="0" y="216027"/>
                    <a:pt x="216027" y="0"/>
                    <a:pt x="482346" y="0"/>
                  </a:cubicBezTo>
                  <a:cubicBezTo>
                    <a:pt x="748665" y="0"/>
                    <a:pt x="964692" y="216027"/>
                    <a:pt x="964692" y="482346"/>
                  </a:cubicBezTo>
                  <a:cubicBezTo>
                    <a:pt x="964692" y="748665"/>
                    <a:pt x="748792" y="964819"/>
                    <a:pt x="482346" y="964819"/>
                  </a:cubicBezTo>
                  <a:cubicBezTo>
                    <a:pt x="215900" y="964819"/>
                    <a:pt x="0" y="748792"/>
                    <a:pt x="0" y="482346"/>
                  </a:cubicBezTo>
                  <a:close/>
                </a:path>
              </a:pathLst>
            </a:custGeom>
            <a:solidFill>
              <a:srgbClr val="FC8337"/>
            </a:solidFill>
          </p:spPr>
        </p:sp>
      </p:grpSp>
      <p:sp>
        <p:nvSpPr>
          <p:cNvPr name="Freeform 13" id="13" descr="preencoded.png"/>
          <p:cNvSpPr/>
          <p:nvPr/>
        </p:nvSpPr>
        <p:spPr>
          <a:xfrm flipH="false" flipV="false" rot="0">
            <a:off x="1461706" y="3833679"/>
            <a:ext cx="325584" cy="325593"/>
          </a:xfrm>
          <a:custGeom>
            <a:avLst/>
            <a:gdLst/>
            <a:ahLst/>
            <a:cxnLst/>
            <a:rect r="r" b="b" t="t" l="l"/>
            <a:pathLst>
              <a:path h="325593" w="325584">
                <a:moveTo>
                  <a:pt x="0" y="0"/>
                </a:moveTo>
                <a:lnTo>
                  <a:pt x="325584" y="0"/>
                </a:lnTo>
                <a:lnTo>
                  <a:pt x="325584" y="325593"/>
                </a:lnTo>
                <a:lnTo>
                  <a:pt x="0" y="32559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-4285" t="0" r="-4288" b="0"/>
            </a:stretch>
          </a:blipFill>
        </p:spPr>
      </p:sp>
      <p:sp>
        <p:nvSpPr>
          <p:cNvPr name="TextBox 14" id="14"/>
          <p:cNvSpPr txBox="true"/>
          <p:nvPr/>
        </p:nvSpPr>
        <p:spPr>
          <a:xfrm rot="0">
            <a:off x="1262720" y="4553683"/>
            <a:ext cx="3289954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Frontend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262720" y="5087836"/>
            <a:ext cx="3289954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HTML, CSS, JavaScript dashboard and live visualization.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5013046" y="3350657"/>
            <a:ext cx="3858016" cy="3148984"/>
            <a:chOff x="0" y="0"/>
            <a:chExt cx="5144021" cy="419864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5144008" cy="4198747"/>
            </a:xfrm>
            <a:custGeom>
              <a:avLst/>
              <a:gdLst/>
              <a:ahLst/>
              <a:cxnLst/>
              <a:rect r="r" b="b" t="t" l="l"/>
              <a:pathLst>
                <a:path h="4198747" w="5144008">
                  <a:moveTo>
                    <a:pt x="0" y="292100"/>
                  </a:moveTo>
                  <a:cubicBezTo>
                    <a:pt x="0" y="130810"/>
                    <a:pt x="130810" y="0"/>
                    <a:pt x="292100" y="0"/>
                  </a:cubicBezTo>
                  <a:lnTo>
                    <a:pt x="4851908" y="0"/>
                  </a:lnTo>
                  <a:cubicBezTo>
                    <a:pt x="5013198" y="0"/>
                    <a:pt x="5144008" y="130810"/>
                    <a:pt x="5144008" y="292100"/>
                  </a:cubicBezTo>
                  <a:lnTo>
                    <a:pt x="5144008" y="3906647"/>
                  </a:lnTo>
                  <a:cubicBezTo>
                    <a:pt x="5144008" y="4067937"/>
                    <a:pt x="5013198" y="4198747"/>
                    <a:pt x="4851908" y="4198747"/>
                  </a:cubicBezTo>
                  <a:lnTo>
                    <a:pt x="292100" y="4198747"/>
                  </a:lnTo>
                  <a:cubicBezTo>
                    <a:pt x="130810" y="4198747"/>
                    <a:pt x="0" y="4067937"/>
                    <a:pt x="0" y="3906647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18" id="18"/>
          <p:cNvGrpSpPr/>
          <p:nvPr/>
        </p:nvGrpSpPr>
        <p:grpSpPr>
          <a:xfrm rot="0">
            <a:off x="5297081" y="3634692"/>
            <a:ext cx="723557" cy="723576"/>
            <a:chOff x="0" y="0"/>
            <a:chExt cx="964743" cy="96476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964692" cy="964819"/>
            </a:xfrm>
            <a:custGeom>
              <a:avLst/>
              <a:gdLst/>
              <a:ahLst/>
              <a:cxnLst/>
              <a:rect r="r" b="b" t="t" l="l"/>
              <a:pathLst>
                <a:path h="964819" w="964692">
                  <a:moveTo>
                    <a:pt x="0" y="482346"/>
                  </a:moveTo>
                  <a:cubicBezTo>
                    <a:pt x="0" y="216027"/>
                    <a:pt x="216027" y="0"/>
                    <a:pt x="482346" y="0"/>
                  </a:cubicBezTo>
                  <a:cubicBezTo>
                    <a:pt x="748665" y="0"/>
                    <a:pt x="964692" y="216027"/>
                    <a:pt x="964692" y="482346"/>
                  </a:cubicBezTo>
                  <a:cubicBezTo>
                    <a:pt x="964692" y="748665"/>
                    <a:pt x="748792" y="964819"/>
                    <a:pt x="482346" y="964819"/>
                  </a:cubicBezTo>
                  <a:cubicBezTo>
                    <a:pt x="215900" y="964819"/>
                    <a:pt x="0" y="748792"/>
                    <a:pt x="0" y="482346"/>
                  </a:cubicBezTo>
                  <a:close/>
                </a:path>
              </a:pathLst>
            </a:custGeom>
            <a:solidFill>
              <a:srgbClr val="FC8337"/>
            </a:solidFill>
          </p:spPr>
        </p:sp>
      </p:grpSp>
      <p:sp>
        <p:nvSpPr>
          <p:cNvPr name="Freeform 20" id="20" descr="preencoded.png"/>
          <p:cNvSpPr/>
          <p:nvPr/>
        </p:nvSpPr>
        <p:spPr>
          <a:xfrm flipH="false" flipV="false" rot="0">
            <a:off x="5496068" y="3833679"/>
            <a:ext cx="325584" cy="325593"/>
          </a:xfrm>
          <a:custGeom>
            <a:avLst/>
            <a:gdLst/>
            <a:ahLst/>
            <a:cxnLst/>
            <a:rect r="r" b="b" t="t" l="l"/>
            <a:pathLst>
              <a:path h="325593" w="325584">
                <a:moveTo>
                  <a:pt x="0" y="0"/>
                </a:moveTo>
                <a:lnTo>
                  <a:pt x="325583" y="0"/>
                </a:lnTo>
                <a:lnTo>
                  <a:pt x="325583" y="325593"/>
                </a:lnTo>
                <a:lnTo>
                  <a:pt x="0" y="325593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-5716" t="0" r="-5716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5297081" y="4553683"/>
            <a:ext cx="3289954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Backend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297081" y="5087836"/>
            <a:ext cx="3289954" cy="770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Python + Flask request-routing simulator engine.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978694" y="6675987"/>
            <a:ext cx="7892377" cy="2435247"/>
            <a:chOff x="0" y="0"/>
            <a:chExt cx="10523169" cy="324699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523093" cy="3247009"/>
            </a:xfrm>
            <a:custGeom>
              <a:avLst/>
              <a:gdLst/>
              <a:ahLst/>
              <a:cxnLst/>
              <a:rect r="r" b="b" t="t" l="l"/>
              <a:pathLst>
                <a:path h="3247009" w="10523093">
                  <a:moveTo>
                    <a:pt x="0" y="292862"/>
                  </a:moveTo>
                  <a:cubicBezTo>
                    <a:pt x="0" y="131064"/>
                    <a:pt x="131064" y="0"/>
                    <a:pt x="292862" y="0"/>
                  </a:cubicBezTo>
                  <a:lnTo>
                    <a:pt x="10230231" y="0"/>
                  </a:lnTo>
                  <a:cubicBezTo>
                    <a:pt x="10392029" y="0"/>
                    <a:pt x="10523093" y="131064"/>
                    <a:pt x="10523093" y="292862"/>
                  </a:cubicBezTo>
                  <a:lnTo>
                    <a:pt x="10523093" y="2954147"/>
                  </a:lnTo>
                  <a:cubicBezTo>
                    <a:pt x="10523093" y="3115945"/>
                    <a:pt x="10392029" y="3247009"/>
                    <a:pt x="10230231" y="3247009"/>
                  </a:cubicBezTo>
                  <a:lnTo>
                    <a:pt x="292862" y="3247009"/>
                  </a:lnTo>
                  <a:cubicBezTo>
                    <a:pt x="131064" y="3247009"/>
                    <a:pt x="0" y="3115818"/>
                    <a:pt x="0" y="2954147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1262720" y="6960022"/>
            <a:ext cx="723557" cy="723576"/>
            <a:chOff x="0" y="0"/>
            <a:chExt cx="964743" cy="96476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964692" cy="964819"/>
            </a:xfrm>
            <a:custGeom>
              <a:avLst/>
              <a:gdLst/>
              <a:ahLst/>
              <a:cxnLst/>
              <a:rect r="r" b="b" t="t" l="l"/>
              <a:pathLst>
                <a:path h="964819" w="964692">
                  <a:moveTo>
                    <a:pt x="0" y="482346"/>
                  </a:moveTo>
                  <a:cubicBezTo>
                    <a:pt x="0" y="216027"/>
                    <a:pt x="216027" y="0"/>
                    <a:pt x="482346" y="0"/>
                  </a:cubicBezTo>
                  <a:cubicBezTo>
                    <a:pt x="748665" y="0"/>
                    <a:pt x="964692" y="216027"/>
                    <a:pt x="964692" y="482346"/>
                  </a:cubicBezTo>
                  <a:cubicBezTo>
                    <a:pt x="964692" y="748665"/>
                    <a:pt x="748792" y="964819"/>
                    <a:pt x="482346" y="964819"/>
                  </a:cubicBezTo>
                  <a:cubicBezTo>
                    <a:pt x="215900" y="964819"/>
                    <a:pt x="0" y="748792"/>
                    <a:pt x="0" y="482346"/>
                  </a:cubicBezTo>
                  <a:close/>
                </a:path>
              </a:pathLst>
            </a:custGeom>
            <a:solidFill>
              <a:srgbClr val="FC8337"/>
            </a:solidFill>
          </p:spPr>
        </p:sp>
      </p:grpSp>
      <p:sp>
        <p:nvSpPr>
          <p:cNvPr name="Freeform 27" id="27" descr="preencoded.png"/>
          <p:cNvSpPr/>
          <p:nvPr/>
        </p:nvSpPr>
        <p:spPr>
          <a:xfrm flipH="false" flipV="false" rot="0">
            <a:off x="1461706" y="7159019"/>
            <a:ext cx="325584" cy="325593"/>
          </a:xfrm>
          <a:custGeom>
            <a:avLst/>
            <a:gdLst/>
            <a:ahLst/>
            <a:cxnLst/>
            <a:rect r="r" b="b" t="t" l="l"/>
            <a:pathLst>
              <a:path h="325593" w="325584">
                <a:moveTo>
                  <a:pt x="0" y="0"/>
                </a:moveTo>
                <a:lnTo>
                  <a:pt x="325584" y="0"/>
                </a:lnTo>
                <a:lnTo>
                  <a:pt x="325584" y="325593"/>
                </a:lnTo>
                <a:lnTo>
                  <a:pt x="0" y="32559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-7140" r="0" b="-7140"/>
            </a:stretch>
          </a:blipFill>
        </p:spPr>
      </p:sp>
      <p:sp>
        <p:nvSpPr>
          <p:cNvPr name="TextBox 28" id="28"/>
          <p:cNvSpPr txBox="true"/>
          <p:nvPr/>
        </p:nvSpPr>
        <p:spPr>
          <a:xfrm rot="0">
            <a:off x="1262720" y="7879023"/>
            <a:ext cx="7324306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Data Layer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262720" y="8413175"/>
            <a:ext cx="7324306" cy="41402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In-memory server and request state for prototype speed.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9454610" y="2748029"/>
            <a:ext cx="7863773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Algorithmic Complexity</a:t>
            </a:r>
          </a:p>
        </p:txBody>
      </p:sp>
      <p:grpSp>
        <p:nvGrpSpPr>
          <p:cNvPr name="Group 31" id="31"/>
          <p:cNvGrpSpPr/>
          <p:nvPr/>
        </p:nvGrpSpPr>
        <p:grpSpPr>
          <a:xfrm rot="0">
            <a:off x="9440313" y="3350657"/>
            <a:ext cx="3858016" cy="2220468"/>
            <a:chOff x="0" y="0"/>
            <a:chExt cx="5144021" cy="2960624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5144008" cy="2960624"/>
            </a:xfrm>
            <a:custGeom>
              <a:avLst/>
              <a:gdLst/>
              <a:ahLst/>
              <a:cxnLst/>
              <a:rect r="r" b="b" t="t" l="l"/>
              <a:pathLst>
                <a:path h="2960624" w="5144008">
                  <a:moveTo>
                    <a:pt x="0" y="293243"/>
                  </a:moveTo>
                  <a:cubicBezTo>
                    <a:pt x="0" y="131318"/>
                    <a:pt x="131318" y="0"/>
                    <a:pt x="293243" y="0"/>
                  </a:cubicBezTo>
                  <a:lnTo>
                    <a:pt x="4850765" y="0"/>
                  </a:lnTo>
                  <a:cubicBezTo>
                    <a:pt x="5012690" y="0"/>
                    <a:pt x="5144008" y="131318"/>
                    <a:pt x="5144008" y="293243"/>
                  </a:cubicBezTo>
                  <a:lnTo>
                    <a:pt x="5144008" y="2667381"/>
                  </a:lnTo>
                  <a:cubicBezTo>
                    <a:pt x="5144008" y="2829306"/>
                    <a:pt x="5012690" y="2960624"/>
                    <a:pt x="4850765" y="2960624"/>
                  </a:cubicBezTo>
                  <a:lnTo>
                    <a:pt x="293243" y="2960624"/>
                  </a:lnTo>
                  <a:cubicBezTo>
                    <a:pt x="131318" y="2960624"/>
                    <a:pt x="0" y="2829306"/>
                    <a:pt x="0" y="2667381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33" id="33"/>
          <p:cNvSpPr txBox="true"/>
          <p:nvPr/>
        </p:nvSpPr>
        <p:spPr>
          <a:xfrm rot="0">
            <a:off x="9724339" y="3625167"/>
            <a:ext cx="3289954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Greedy Strategy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9724339" y="4159320"/>
            <a:ext cx="3289954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Fast local choice for each incoming request without global backtracking overhead.</a:t>
            </a:r>
          </a:p>
        </p:txBody>
      </p:sp>
      <p:grpSp>
        <p:nvGrpSpPr>
          <p:cNvPr name="Group 35" id="35"/>
          <p:cNvGrpSpPr/>
          <p:nvPr/>
        </p:nvGrpSpPr>
        <p:grpSpPr>
          <a:xfrm rot="0">
            <a:off x="13474675" y="3350657"/>
            <a:ext cx="3858016" cy="2220468"/>
            <a:chOff x="0" y="0"/>
            <a:chExt cx="5144021" cy="296062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5144008" cy="2960624"/>
            </a:xfrm>
            <a:custGeom>
              <a:avLst/>
              <a:gdLst/>
              <a:ahLst/>
              <a:cxnLst/>
              <a:rect r="r" b="b" t="t" l="l"/>
              <a:pathLst>
                <a:path h="2960624" w="5144008">
                  <a:moveTo>
                    <a:pt x="0" y="293243"/>
                  </a:moveTo>
                  <a:cubicBezTo>
                    <a:pt x="0" y="131318"/>
                    <a:pt x="131318" y="0"/>
                    <a:pt x="293243" y="0"/>
                  </a:cubicBezTo>
                  <a:lnTo>
                    <a:pt x="4850765" y="0"/>
                  </a:lnTo>
                  <a:cubicBezTo>
                    <a:pt x="5012690" y="0"/>
                    <a:pt x="5144008" y="131318"/>
                    <a:pt x="5144008" y="293243"/>
                  </a:cubicBezTo>
                  <a:lnTo>
                    <a:pt x="5144008" y="2667381"/>
                  </a:lnTo>
                  <a:cubicBezTo>
                    <a:pt x="5144008" y="2829306"/>
                    <a:pt x="5012690" y="2960624"/>
                    <a:pt x="4850765" y="2960624"/>
                  </a:cubicBezTo>
                  <a:lnTo>
                    <a:pt x="293243" y="2960624"/>
                  </a:lnTo>
                  <a:cubicBezTo>
                    <a:pt x="131318" y="2960624"/>
                    <a:pt x="0" y="2829306"/>
                    <a:pt x="0" y="2667381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37" id="37"/>
          <p:cNvSpPr txBox="true"/>
          <p:nvPr/>
        </p:nvSpPr>
        <p:spPr>
          <a:xfrm rot="0">
            <a:off x="13758701" y="3625167"/>
            <a:ext cx="3289954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Priority Queue Heap</a:t>
            </a:r>
          </a:p>
        </p:txBody>
      </p:sp>
      <p:sp>
        <p:nvSpPr>
          <p:cNvPr name="TextBox 38" id="38"/>
          <p:cNvSpPr txBox="true"/>
          <p:nvPr/>
        </p:nvSpPr>
        <p:spPr>
          <a:xfrm rot="0">
            <a:off x="13758701" y="4159320"/>
            <a:ext cx="3289954" cy="11277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Efficient candidate management as priorities change dynamically.</a:t>
            </a:r>
          </a:p>
        </p:txBody>
      </p:sp>
      <p:grpSp>
        <p:nvGrpSpPr>
          <p:cNvPr name="Group 39" id="39"/>
          <p:cNvGrpSpPr/>
          <p:nvPr/>
        </p:nvGrpSpPr>
        <p:grpSpPr>
          <a:xfrm rot="0">
            <a:off x="9440313" y="5747471"/>
            <a:ext cx="7892377" cy="1863595"/>
            <a:chOff x="0" y="0"/>
            <a:chExt cx="10523169" cy="2484793"/>
          </a:xfrm>
        </p:grpSpPr>
        <p:sp>
          <p:nvSpPr>
            <p:cNvPr name="Freeform 40" id="40"/>
            <p:cNvSpPr/>
            <p:nvPr/>
          </p:nvSpPr>
          <p:spPr>
            <a:xfrm flipH="false" flipV="false" rot="0">
              <a:off x="0" y="0"/>
              <a:ext cx="10523093" cy="2484755"/>
            </a:xfrm>
            <a:custGeom>
              <a:avLst/>
              <a:gdLst/>
              <a:ahLst/>
              <a:cxnLst/>
              <a:rect r="r" b="b" t="t" l="l"/>
              <a:pathLst>
                <a:path h="2484755" w="10523093">
                  <a:moveTo>
                    <a:pt x="0" y="293878"/>
                  </a:moveTo>
                  <a:cubicBezTo>
                    <a:pt x="0" y="131572"/>
                    <a:pt x="131572" y="0"/>
                    <a:pt x="293878" y="0"/>
                  </a:cubicBezTo>
                  <a:lnTo>
                    <a:pt x="10229215" y="0"/>
                  </a:lnTo>
                  <a:cubicBezTo>
                    <a:pt x="10391522" y="0"/>
                    <a:pt x="10523093" y="131572"/>
                    <a:pt x="10523093" y="293878"/>
                  </a:cubicBezTo>
                  <a:lnTo>
                    <a:pt x="10523093" y="2190877"/>
                  </a:lnTo>
                  <a:cubicBezTo>
                    <a:pt x="10523093" y="2353183"/>
                    <a:pt x="10391522" y="2484755"/>
                    <a:pt x="10229215" y="2484755"/>
                  </a:cubicBezTo>
                  <a:lnTo>
                    <a:pt x="293878" y="2484755"/>
                  </a:lnTo>
                  <a:cubicBezTo>
                    <a:pt x="131572" y="2484755"/>
                    <a:pt x="0" y="2353183"/>
                    <a:pt x="0" y="2190877"/>
                  </a:cubicBez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41" id="41"/>
          <p:cNvSpPr txBox="true"/>
          <p:nvPr/>
        </p:nvSpPr>
        <p:spPr>
          <a:xfrm rot="0">
            <a:off x="9724339" y="6021981"/>
            <a:ext cx="7324306" cy="3863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03"/>
              </a:lnSpc>
            </a:pPr>
            <a:r>
              <a:rPr lang="en-US" sz="2326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Complexity Target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9724339" y="6556134"/>
            <a:ext cx="7324306" cy="7708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69"/>
              </a:lnSpc>
            </a:pPr>
            <a:r>
              <a:rPr lang="en-US" sz="1876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Insert / update runs in O(log n); best-candidate retrieval takes O(1) peek or O(log n) removal.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</p:spPr>
        </p:sp>
      </p:grpSp>
      <p:pic>
        <p:nvPicPr>
          <p:cNvPr name="Picture Dashboard" id="20" descr="Dashboard screenshot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8694" y="1100000"/>
            <a:ext cx="5248154" cy="2952086"/>
          </a:xfrm>
          <a:prstGeom prst="rect">
            <a:avLst/>
          </a:prstGeom>
          <a:ln w="28597">
            <a:solidFill>
              <a:srgbClr val="FC8337"/>
            </a:solidFill>
          </a:ln>
        </p:spPr>
      </p:pic>
      <p:sp>
        <p:nvSpPr>
          <p:cNvPr name="Heading Dashboard" id="21"/>
          <p:cNvSpPr txBox="true"/>
          <p:nvPr/>
        </p:nvSpPr>
        <p:spPr>
          <a:xfrm>
            <a:off x="978694" y="4252086"/>
            <a:ext cx="5248154" cy="450000"/>
          </a:xfrm>
          <a:prstGeom prst="rect">
            <a:avLst/>
          </a:prstGeom>
        </p:spPr>
        <p:txBody>
          <a:bodyPr wrap="square" anchor="t" rtlCol="false" tIns="0" lIns="0" bIns="0" rIns="0">
            <a:noAutofit/>
          </a:bodyPr>
          <a:lstStyle/>
          <a:p>
            <a:pPr algn="l"/>
            <a:r>
              <a:rPr lang="en-US" sz="2600" b="true">
                <a:solidFill>
                  <a:srgbClr val="FC8337"/>
                </a:solidFill>
                <a:latin typeface="Saira Medium"/>
                <a:ea typeface="Saira Medium"/>
                <a:cs typeface="Saira Medium"/>
                <a:sym typeface="Saira Medium"/>
              </a:rPr>
              <a:t>Dashboard</a:t>
            </a:r>
          </a:p>
        </p:txBody>
      </p:sp>
      <p:sp>
        <p:nvSpPr>
          <p:cNvPr name="Summary Dashboard" id="22"/>
          <p:cNvSpPr txBox="true"/>
          <p:nvPr/>
        </p:nvSpPr>
        <p:spPr>
          <a:xfrm>
            <a:off x="978694" y="4772086"/>
            <a:ext cx="5248154" cy="1700000"/>
          </a:xfrm>
          <a:prstGeom prst="rect">
            <a:avLst/>
          </a:prstGeom>
        </p:spPr>
        <p:txBody>
          <a:bodyPr wrap="square" anchor="t" rtlCol="false" tIns="0" lIns="0" bIns="0" rIns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2000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Live overview of requests, active servers and average response cost, with Run Demo, Route Next Request and Reset controls.</a:t>
            </a:r>
          </a:p>
        </p:txBody>
      </p:sp>
      <p:pic>
        <p:nvPicPr>
          <p:cNvPr name="Picture User Profile" id="23" descr="User profile screenshot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26848" y="1100000"/>
            <a:ext cx="5248154" cy="2952086"/>
          </a:xfrm>
          <a:prstGeom prst="rect">
            <a:avLst/>
          </a:prstGeom>
          <a:ln w="28597">
            <a:solidFill>
              <a:srgbClr val="FC8337"/>
            </a:solidFill>
          </a:ln>
        </p:spPr>
      </p:pic>
      <p:sp>
        <p:nvSpPr>
          <p:cNvPr name="Heading User Profile" id="24"/>
          <p:cNvSpPr txBox="true"/>
          <p:nvPr/>
        </p:nvSpPr>
        <p:spPr>
          <a:xfrm>
            <a:off x="6526848" y="4252086"/>
            <a:ext cx="5248154" cy="450000"/>
          </a:xfrm>
          <a:prstGeom prst="rect">
            <a:avLst/>
          </a:prstGeom>
        </p:spPr>
        <p:txBody>
          <a:bodyPr wrap="square" anchor="t" rtlCol="false" tIns="0" lIns="0" bIns="0" rIns="0">
            <a:noAutofit/>
          </a:bodyPr>
          <a:lstStyle/>
          <a:p>
            <a:pPr algn="l"/>
            <a:r>
              <a:rPr lang="en-US" sz="2600" b="true">
                <a:solidFill>
                  <a:srgbClr val="FC8337"/>
                </a:solidFill>
                <a:latin typeface="Saira Medium"/>
                <a:ea typeface="Saira Medium"/>
                <a:cs typeface="Saira Medium"/>
                <a:sym typeface="Saira Medium"/>
              </a:rPr>
              <a:t>User Profile</a:t>
            </a:r>
          </a:p>
        </p:txBody>
      </p:sp>
      <p:sp>
        <p:nvSpPr>
          <p:cNvPr name="Summary User Profile" id="25"/>
          <p:cNvSpPr txBox="true"/>
          <p:nvPr/>
        </p:nvSpPr>
        <p:spPr>
          <a:xfrm>
            <a:off x="6526848" y="4772086"/>
            <a:ext cx="5248154" cy="1700000"/>
          </a:xfrm>
          <a:prstGeom prst="rect">
            <a:avLst/>
          </a:prstGeom>
        </p:spPr>
        <p:txBody>
          <a:bodyPr wrap="square" anchor="t" rtlCol="false" tIns="0" lIns="0" bIns="0" rIns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2000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Participant profile showing the project, the Greedy + Priority Queue algorithms, the Python + Flask + JavaScript stack and activity counts.</a:t>
            </a:r>
          </a:p>
        </p:txBody>
      </p:sp>
      <p:pic>
        <p:nvPicPr>
          <p:cNvPr name="Picture Request Routing" id="26" descr="Request routing screenshot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075002" y="1100000"/>
            <a:ext cx="5248154" cy="2952086"/>
          </a:xfrm>
          <a:prstGeom prst="rect">
            <a:avLst/>
          </a:prstGeom>
          <a:ln w="28597">
            <a:solidFill>
              <a:srgbClr val="FC8337"/>
            </a:solidFill>
          </a:ln>
        </p:spPr>
      </p:pic>
      <p:sp>
        <p:nvSpPr>
          <p:cNvPr name="Heading Request Routing" id="27"/>
          <p:cNvSpPr txBox="true"/>
          <p:nvPr/>
        </p:nvSpPr>
        <p:spPr>
          <a:xfrm>
            <a:off x="12075002" y="4252086"/>
            <a:ext cx="5248154" cy="450000"/>
          </a:xfrm>
          <a:prstGeom prst="rect">
            <a:avLst/>
          </a:prstGeom>
        </p:spPr>
        <p:txBody>
          <a:bodyPr wrap="square" anchor="t" rtlCol="false" tIns="0" lIns="0" bIns="0" rIns="0">
            <a:noAutofit/>
          </a:bodyPr>
          <a:lstStyle/>
          <a:p>
            <a:pPr algn="l"/>
            <a:r>
              <a:rPr lang="en-US" sz="2600" b="true">
                <a:solidFill>
                  <a:srgbClr val="FC8337"/>
                </a:solidFill>
                <a:latin typeface="Saira Medium"/>
                <a:ea typeface="Saira Medium"/>
                <a:cs typeface="Saira Medium"/>
                <a:sym typeface="Saira Medium"/>
              </a:rPr>
              <a:t>Request Routing</a:t>
            </a:r>
          </a:p>
        </p:txBody>
      </p:sp>
      <p:sp>
        <p:nvSpPr>
          <p:cNvPr name="Summary Request Routing" id="28"/>
          <p:cNvSpPr txBox="true"/>
          <p:nvPr/>
        </p:nvSpPr>
        <p:spPr>
          <a:xfrm>
            <a:off x="12075002" y="4772086"/>
            <a:ext cx="5248154" cy="1700000"/>
          </a:xfrm>
          <a:prstGeom prst="rect">
            <a:avLst/>
          </a:prstGeom>
        </p:spPr>
        <p:txBody>
          <a:bodyPr wrap="square" anchor="t" rtlCol="false" tIns="0" lIns="0" bIns="0" rIns="0">
            <a:noAutofit/>
          </a:bodyPr>
          <a:lstStyle/>
          <a:p>
            <a:pPr algn="l">
              <a:lnSpc>
                <a:spcPct val="105000"/>
              </a:lnSpc>
            </a:pPr>
            <a:r>
              <a:rPr lang="en-US" sz="2000">
                <a:solidFill>
                  <a:srgbClr val="E5E0DF"/>
                </a:solidFill>
                <a:latin typeface="Roboto"/>
                <a:ea typeface="Roboto"/>
                <a:cs typeface="Roboto"/>
                <a:sym typeface="Roboto"/>
              </a:rPr>
              <a:t>Requests wait in a priority queue (heapq), highest priority first. Each is routed by Score = Queue Length + Response Cost.</a:t>
            </a:r>
          </a:p>
        </p:txBody>
      </p:sp>
      <p:sp>
        <p:nvSpPr>
          <p:cNvPr name="Takeaway Card" id="29"/>
          <p:cNvSpPr/>
          <p:nvPr/>
        </p:nvSpPr>
        <p:spPr>
          <a:xfrm>
            <a:off x="978694" y="6672086"/>
            <a:ext cx="16344462" cy="1500000"/>
          </a:xfrm>
          <a:prstGeom prst="roundRect">
            <a:avLst>
              <a:gd name="adj" fmla="val 14000"/>
            </a:avLst>
          </a:prstGeom>
          <a:solidFill>
            <a:srgbClr val="030303"/>
          </a:solidFill>
          <a:ln w="28597">
            <a:solidFill>
              <a:srgbClr val="FC8337"/>
            </a:solidFill>
          </a:ln>
        </p:spPr>
        <p:txBody>
          <a:bodyPr wrap="square" anchor="ctr" lIns="360000" rIns="360000" tIns="0" bIns="0">
            <a:noAutofit/>
          </a:bodyPr>
          <a:lstStyle/>
          <a:p>
            <a:pPr algn="ctr"/>
            <a:r>
              <a:rPr lang="en-US" sz="2600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The Priority Queue orders requests, Greedy selection picks the best server, and the dashboard shows every decision live.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3" id="3" descr="preencoded.png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" t="0" r="-1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0" y="0"/>
            <a:ext cx="18301840" cy="10295039"/>
            <a:chOff x="0" y="0"/>
            <a:chExt cx="24402453" cy="13726719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24402414" cy="13726668"/>
            </a:xfrm>
            <a:custGeom>
              <a:avLst/>
              <a:gdLst/>
              <a:ahLst/>
              <a:cxnLst/>
              <a:rect r="r" b="b" t="t" l="l"/>
              <a:pathLst>
                <a:path h="13726668" w="24402414">
                  <a:moveTo>
                    <a:pt x="0" y="0"/>
                  </a:moveTo>
                  <a:lnTo>
                    <a:pt x="24402414" y="0"/>
                  </a:lnTo>
                  <a:lnTo>
                    <a:pt x="24402414" y="13726668"/>
                  </a:lnTo>
                  <a:lnTo>
                    <a:pt x="0" y="13726668"/>
                  </a:lnTo>
                  <a:close/>
                </a:path>
              </a:pathLst>
            </a:custGeom>
            <a:solidFill>
              <a:srgbClr val="030303">
                <a:alpha val="56078"/>
              </a:srgbClr>
            </a:solidFill>
          </p:spPr>
        </p:sp>
      </p:grpSp>
      <p:sp>
        <p:nvSpPr>
          <p:cNvPr name="TextBox 6" id="6"/>
          <p:cNvSpPr txBox="true"/>
          <p:nvPr/>
        </p:nvSpPr>
        <p:spPr>
          <a:xfrm rot="0">
            <a:off x="992991" y="3040609"/>
            <a:ext cx="17230954" cy="429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755"/>
              </a:lnSpc>
            </a:pPr>
            <a:r>
              <a:rPr lang="en-US" sz="1726" spc="106">
                <a:solidFill>
                  <a:srgbClr val="FC8337"/>
                </a:solidFill>
                <a:latin typeface="Roboto"/>
                <a:ea typeface="Roboto"/>
                <a:cs typeface="Roboto"/>
                <a:sym typeface="Roboto"/>
              </a:rPr>
              <a:t>ROADMAP &amp; SUMMARY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992991" y="3735095"/>
            <a:ext cx="16315868" cy="728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526"/>
              </a:lnSpc>
            </a:pPr>
            <a:r>
              <a:rPr lang="en-US" sz="4428" b="true">
                <a:solidFill>
                  <a:srgbClr val="FFFFFF"/>
                </a:solidFill>
                <a:latin typeface="Saira Medium"/>
                <a:ea typeface="Saira Medium"/>
                <a:cs typeface="Saira Medium"/>
                <a:sym typeface="Saira Medium"/>
              </a:rPr>
              <a:t>Future vision: from simulation to platform</a:t>
            </a:r>
          </a:p>
        </p:txBody>
      </p:sp>
      <p:grpSp>
        <p:nvGrpSpPr>
          <p:cNvPr name="Group 8" id="8"/>
          <p:cNvGrpSpPr/>
          <p:nvPr/>
        </p:nvGrpSpPr>
        <p:grpSpPr>
          <a:xfrm rot="0">
            <a:off x="978694" y="5647830"/>
            <a:ext cx="16344462" cy="1809531"/>
            <a:chOff x="0" y="0"/>
            <a:chExt cx="21792616" cy="241270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1792564" cy="2412746"/>
            </a:xfrm>
            <a:custGeom>
              <a:avLst/>
              <a:gdLst/>
              <a:ahLst/>
              <a:cxnLst/>
              <a:rect r="r" b="b" t="t" l="l"/>
              <a:pathLst>
                <a:path h="2412746" w="21792564">
                  <a:moveTo>
                    <a:pt x="0" y="345948"/>
                  </a:moveTo>
                  <a:cubicBezTo>
                    <a:pt x="0" y="154940"/>
                    <a:pt x="154940" y="0"/>
                    <a:pt x="345948" y="0"/>
                  </a:cubicBezTo>
                  <a:lnTo>
                    <a:pt x="21446617" y="0"/>
                  </a:lnTo>
                  <a:cubicBezTo>
                    <a:pt x="21637625" y="0"/>
                    <a:pt x="21792564" y="154940"/>
                    <a:pt x="21792564" y="345948"/>
                  </a:cubicBezTo>
                  <a:lnTo>
                    <a:pt x="21792564" y="2066798"/>
                  </a:lnTo>
                  <a:cubicBezTo>
                    <a:pt x="21792564" y="2257806"/>
                    <a:pt x="21637625" y="2412746"/>
                    <a:pt x="21446617" y="2412746"/>
                  </a:cubicBezTo>
                  <a:lnTo>
                    <a:pt x="345948" y="2412746"/>
                  </a:lnTo>
                  <a:cubicBezTo>
                    <a:pt x="154940" y="2412746"/>
                    <a:pt x="0" y="2257806"/>
                    <a:pt x="0" y="2066798"/>
                  </a:cubicBezTo>
                  <a:close/>
                </a:path>
              </a:pathLst>
            </a:custGeom>
            <a:solidFill>
              <a:srgbClr val="030303"/>
            </a:solidFill>
            <a:ln w="28597" cap="sq">
              <a:solidFill>
                <a:srgbClr val="FC8337"/>
              </a:solidFill>
              <a:prstDash val="solid"/>
              <a:miter/>
            </a:ln>
          </p:spPr>
        </p:sp>
      </p:grpSp>
      <p:sp>
        <p:nvSpPr>
          <p:cNvPr name="TextBox 10" id="10"/>
          <p:cNvSpPr txBox="true"/>
          <p:nvPr/>
        </p:nvSpPr>
        <p:spPr>
          <a:xfrm rot="0">
            <a:off x="1305239" y="5955411"/>
            <a:ext cx="15691209" cy="5510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1"/>
              </a:lnSpc>
            </a:pPr>
            <a:r>
              <a:rPr lang="en-US" sz="3302" b="true">
                <a:solidFill>
                  <a:srgbClr val="E5E0DF"/>
                </a:solidFill>
                <a:latin typeface="Saira Medium"/>
                <a:ea typeface="Saira Medium"/>
                <a:cs typeface="Saira Medium"/>
                <a:sym typeface="Saira Medium"/>
              </a:rPr>
              <a:t>Route smarter. Balance workloads. Respond faster.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305316" y="6591014"/>
            <a:ext cx="15691209" cy="5397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74"/>
              </a:lnSpc>
            </a:pPr>
            <a:r>
              <a:rPr lang="en-US" sz="2176" b="true">
                <a:solidFill>
                  <a:srgbClr val="E5E0DF"/>
                </a:solidFill>
                <a:latin typeface="Roboto Bold"/>
                <a:ea typeface="Roboto Bold"/>
                <a:cs typeface="Roboto Bold"/>
                <a:sym typeface="Roboto Bold"/>
              </a:rPr>
              <a:t>THANK YOU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DAHW7vL5mZs</dc:identifier>
  <dcterms:modified xsi:type="dcterms:W3CDTF">2011-08-01T06:04:30Z</dcterms:modified>
  <cp:revision>1</cp:revision>
  <dc:title>Team - 7 - PPT.pptx</dc:title>
</cp:coreProperties>
</file>